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5" r:id="rId5"/>
    <p:sldId id="11089805" r:id="rId6"/>
    <p:sldId id="11089809" r:id="rId7"/>
    <p:sldId id="11089810" r:id="rId8"/>
    <p:sldId id="292" r:id="rId9"/>
    <p:sldId id="11089812" r:id="rId10"/>
    <p:sldId id="11089811" r:id="rId11"/>
    <p:sldId id="30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05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1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5E"/>
    <a:srgbClr val="E3E7ED"/>
    <a:srgbClr val="EFEFEF"/>
    <a:srgbClr val="CFEAFE"/>
    <a:srgbClr val="103D7D"/>
    <a:srgbClr val="45BDF8"/>
    <a:srgbClr val="79D5FA"/>
    <a:srgbClr val="2498F7"/>
    <a:srgbClr val="116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834" autoAdjust="0"/>
  </p:normalViewPr>
  <p:slideViewPr>
    <p:cSldViewPr snapToGrid="0" showGuides="1">
      <p:cViewPr varScale="1">
        <p:scale>
          <a:sx n="70" d="100"/>
          <a:sy n="70" d="100"/>
        </p:scale>
        <p:origin x="78" y="756"/>
      </p:cViewPr>
      <p:guideLst>
        <p:guide orient="horz" pos="2150"/>
        <p:guide pos="3805"/>
        <p:guide pos="597"/>
        <p:guide pos="7107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430" y="96"/>
      </p:cViewPr>
      <p:guideLst>
        <p:guide orient="horz" pos="286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A71A1-BD85-4D90-B3DE-9194C0FAF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模板网，幻灯片演示模板及素材免费下载！</a:t>
            </a:r>
            <a:endParaRPr lang="zh-CN" altLang="en-US" dirty="0"/>
          </a:p>
          <a:p>
            <a:r>
              <a:rPr lang="en-US" altLang="zh-CN" dirty="0"/>
              <a:t>51PPT</a:t>
            </a:r>
            <a:r>
              <a:rPr lang="zh-CN" altLang="en-US" dirty="0"/>
              <a:t>模板网 唯一访问网址：</a:t>
            </a:r>
            <a:r>
              <a:rPr lang="en-US" altLang="zh-CN" dirty="0"/>
              <a:t>www.51pptmoban.com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7369468"/>
            <a:ext cx="6019800" cy="1524000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模板网，幻灯片演示模板及素材免费下载！</a:t>
            </a:r>
            <a:endParaRPr lang="zh-CN" altLang="en-US" dirty="0"/>
          </a:p>
          <a:p>
            <a:r>
              <a:rPr lang="en-US" altLang="zh-CN" dirty="0"/>
              <a:t>51PPT</a:t>
            </a:r>
            <a:r>
              <a:rPr lang="zh-CN" altLang="en-US" dirty="0"/>
              <a:t>模板网 唯一访问网址：</a:t>
            </a:r>
            <a:r>
              <a:rPr lang="en-US" altLang="zh-CN" dirty="0"/>
              <a:t>www.51pptmoban.com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3DC4E-33FA-4B54-B262-D0F653202B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/>
        </p:nvGrpSpPr>
        <p:grpSpPr>
          <a:xfrm>
            <a:off x="-5405869" y="0"/>
            <a:ext cx="22990632" cy="6858000"/>
            <a:chOff x="-5405869" y="0"/>
            <a:chExt cx="22990632" cy="6858000"/>
          </a:xfrm>
        </p:grpSpPr>
        <p:cxnSp>
          <p:nvCxnSpPr>
            <p:cNvPr id="36" name="直接连接符 35"/>
            <p:cNvCxnSpPr/>
            <p:nvPr/>
          </p:nvCxnSpPr>
          <p:spPr>
            <a:xfrm flipH="1">
              <a:off x="-540586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-399798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-259009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-118221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2567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163356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304144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444933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585721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726510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867299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1008087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1148876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 flipV="1">
            <a:off x="-5405869" y="0"/>
            <a:ext cx="22990632" cy="6858000"/>
            <a:chOff x="-5405869" y="0"/>
            <a:chExt cx="22990632" cy="6858000"/>
          </a:xfrm>
        </p:grpSpPr>
        <p:cxnSp>
          <p:nvCxnSpPr>
            <p:cNvPr id="50" name="直接连接符 49"/>
            <p:cNvCxnSpPr/>
            <p:nvPr/>
          </p:nvCxnSpPr>
          <p:spPr>
            <a:xfrm flipH="1">
              <a:off x="-540586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-399798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-259009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-118221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22567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163356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04144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444933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585721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726510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867299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1008087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1148876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/>
        </p:nvGrpSpPr>
        <p:grpSpPr>
          <a:xfrm>
            <a:off x="-5405869" y="0"/>
            <a:ext cx="22990632" cy="6858000"/>
            <a:chOff x="-5405869" y="0"/>
            <a:chExt cx="22990632" cy="6858000"/>
          </a:xfrm>
        </p:grpSpPr>
        <p:cxnSp>
          <p:nvCxnSpPr>
            <p:cNvPr id="36" name="直接连接符 35"/>
            <p:cNvCxnSpPr/>
            <p:nvPr/>
          </p:nvCxnSpPr>
          <p:spPr>
            <a:xfrm flipH="1">
              <a:off x="-540586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-399798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-259009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-118221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2567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163356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304144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444933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585721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726510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867299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1008087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1148876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 flipV="1">
            <a:off x="-5405869" y="0"/>
            <a:ext cx="22990632" cy="6858000"/>
            <a:chOff x="-5405869" y="0"/>
            <a:chExt cx="22990632" cy="6858000"/>
          </a:xfrm>
        </p:grpSpPr>
        <p:cxnSp>
          <p:nvCxnSpPr>
            <p:cNvPr id="50" name="直接连接符 49"/>
            <p:cNvCxnSpPr/>
            <p:nvPr/>
          </p:nvCxnSpPr>
          <p:spPr>
            <a:xfrm flipH="1">
              <a:off x="-540586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-399798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-259009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-118221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22567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163356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04144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444933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5857219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7265105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8672991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10080877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11488763" y="0"/>
              <a:ext cx="6096000" cy="6858000"/>
            </a:xfrm>
            <a:prstGeom prst="line">
              <a:avLst/>
            </a:prstGeom>
            <a:ln w="12700">
              <a:solidFill>
                <a:srgbClr val="0D215E">
                  <a:alpha val="7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菱形 72"/>
          <p:cNvSpPr/>
          <p:nvPr userDrawn="1"/>
        </p:nvSpPr>
        <p:spPr>
          <a:xfrm>
            <a:off x="10292777" y="-541870"/>
            <a:ext cx="1456312" cy="162139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任意多边形: 形状 1"/>
          <p:cNvSpPr/>
          <p:nvPr userDrawn="1"/>
        </p:nvSpPr>
        <p:spPr>
          <a:xfrm rot="20700000">
            <a:off x="-865664" y="-796760"/>
            <a:ext cx="6872894" cy="2257786"/>
          </a:xfrm>
          <a:custGeom>
            <a:avLst/>
            <a:gdLst>
              <a:gd name="connsiteX0" fmla="*/ 2124478 w 6529289"/>
              <a:gd name="connsiteY0" fmla="*/ 0 h 2144909"/>
              <a:gd name="connsiteX1" fmla="*/ 6529289 w 6529289"/>
              <a:gd name="connsiteY1" fmla="*/ 1180265 h 2144909"/>
              <a:gd name="connsiteX2" fmla="*/ 6069007 w 6529289"/>
              <a:gd name="connsiteY2" fmla="*/ 1138172 h 2144909"/>
              <a:gd name="connsiteX3" fmla="*/ 5021326 w 6529289"/>
              <a:gd name="connsiteY3" fmla="*/ 1100319 h 2144909"/>
              <a:gd name="connsiteX4" fmla="*/ 156777 w 6529289"/>
              <a:gd name="connsiteY4" fmla="*/ 2062535 h 2144909"/>
              <a:gd name="connsiteX5" fmla="*/ 0 w 6529289"/>
              <a:gd name="connsiteY5" fmla="*/ 2144909 h 2144909"/>
              <a:gd name="connsiteX6" fmla="*/ 522631 w 6529289"/>
              <a:gd name="connsiteY6" fmla="*/ 194423 h 2144909"/>
              <a:gd name="connsiteX7" fmla="*/ 962056 w 6529289"/>
              <a:gd name="connsiteY7" fmla="*/ 117621 h 2144909"/>
              <a:gd name="connsiteX8" fmla="*/ 1621350 w 6529289"/>
              <a:gd name="connsiteY8" fmla="*/ 36668 h 214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9289" h="2144909">
                <a:moveTo>
                  <a:pt x="2124478" y="0"/>
                </a:moveTo>
                <a:lnTo>
                  <a:pt x="6529289" y="1180265"/>
                </a:lnTo>
                <a:lnTo>
                  <a:pt x="6069007" y="1138172"/>
                </a:lnTo>
                <a:cubicBezTo>
                  <a:pt x="5727400" y="1113247"/>
                  <a:pt x="5377524" y="1100319"/>
                  <a:pt x="5021326" y="1100319"/>
                </a:cubicBezTo>
                <a:cubicBezTo>
                  <a:pt x="3121602" y="1100319"/>
                  <a:pt x="1401724" y="1468029"/>
                  <a:pt x="156777" y="2062535"/>
                </a:cubicBezTo>
                <a:lnTo>
                  <a:pt x="0" y="2144909"/>
                </a:lnTo>
                <a:lnTo>
                  <a:pt x="522631" y="194423"/>
                </a:lnTo>
                <a:lnTo>
                  <a:pt x="962056" y="117621"/>
                </a:lnTo>
                <a:cubicBezTo>
                  <a:pt x="1177474" y="85625"/>
                  <a:pt x="1397431" y="58549"/>
                  <a:pt x="1621350" y="366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任意多边形: 形状 2"/>
          <p:cNvSpPr/>
          <p:nvPr userDrawn="1"/>
        </p:nvSpPr>
        <p:spPr>
          <a:xfrm rot="20476001">
            <a:off x="-245851" y="-566290"/>
            <a:ext cx="4037171" cy="1247634"/>
          </a:xfrm>
          <a:custGeom>
            <a:avLst/>
            <a:gdLst>
              <a:gd name="connsiteX0" fmla="*/ 358241 w 4037171"/>
              <a:gd name="connsiteY0" fmla="*/ 0 h 1247634"/>
              <a:gd name="connsiteX1" fmla="*/ 4037171 w 4037171"/>
              <a:gd name="connsiteY1" fmla="*/ 1247634 h 1247634"/>
              <a:gd name="connsiteX2" fmla="*/ 3944350 w 4037171"/>
              <a:gd name="connsiteY2" fmla="*/ 1224250 h 1247634"/>
              <a:gd name="connsiteX3" fmla="*/ 1493404 w 4037171"/>
              <a:gd name="connsiteY3" fmla="*/ 958034 h 1247634"/>
              <a:gd name="connsiteX4" fmla="*/ 354064 w 4037171"/>
              <a:gd name="connsiteY4" fmla="*/ 1012882 h 1247634"/>
              <a:gd name="connsiteX5" fmla="*/ 0 w 4037171"/>
              <a:gd name="connsiteY5" fmla="*/ 1056356 h 1247634"/>
              <a:gd name="connsiteX6" fmla="*/ 0 w 4037171"/>
              <a:gd name="connsiteY6" fmla="*/ 1056355 h 12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7171" h="1247634">
                <a:moveTo>
                  <a:pt x="358241" y="0"/>
                </a:moveTo>
                <a:lnTo>
                  <a:pt x="4037171" y="1247634"/>
                </a:lnTo>
                <a:lnTo>
                  <a:pt x="3944350" y="1224250"/>
                </a:lnTo>
                <a:cubicBezTo>
                  <a:pt x="3202902" y="1053642"/>
                  <a:pt x="2371534" y="958034"/>
                  <a:pt x="1493404" y="958034"/>
                </a:cubicBezTo>
                <a:cubicBezTo>
                  <a:pt x="1103124" y="958034"/>
                  <a:pt x="722081" y="976920"/>
                  <a:pt x="354064" y="1012882"/>
                </a:cubicBezTo>
                <a:lnTo>
                  <a:pt x="0" y="1056356"/>
                </a:lnTo>
                <a:lnTo>
                  <a:pt x="0" y="1056355"/>
                </a:lnTo>
                <a:close/>
              </a:path>
            </a:pathLst>
          </a:custGeom>
          <a:solidFill>
            <a:srgbClr val="0D215E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 rot="9900000">
            <a:off x="6510831" y="5754362"/>
            <a:ext cx="6365312" cy="1981170"/>
          </a:xfrm>
          <a:custGeom>
            <a:avLst/>
            <a:gdLst>
              <a:gd name="connsiteX0" fmla="*/ 0 w 6365312"/>
              <a:gd name="connsiteY0" fmla="*/ 1981170 h 1981170"/>
              <a:gd name="connsiteX1" fmla="*/ 526919 w 6365312"/>
              <a:gd name="connsiteY1" fmla="*/ 14683 h 1981170"/>
              <a:gd name="connsiteX2" fmla="*/ 728389 w 6365312"/>
              <a:gd name="connsiteY2" fmla="*/ 0 h 1981170"/>
              <a:gd name="connsiteX3" fmla="*/ 6365312 w 6365312"/>
              <a:gd name="connsiteY3" fmla="*/ 1510408 h 1981170"/>
              <a:gd name="connsiteX4" fmla="*/ 5776280 w 6365312"/>
              <a:gd name="connsiteY4" fmla="*/ 1456541 h 1981170"/>
              <a:gd name="connsiteX5" fmla="*/ 4435543 w 6365312"/>
              <a:gd name="connsiteY5" fmla="*/ 1408099 h 1981170"/>
              <a:gd name="connsiteX6" fmla="*/ 239108 w 6365312"/>
              <a:gd name="connsiteY6" fmla="*/ 1915517 h 198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5312" h="1981170">
                <a:moveTo>
                  <a:pt x="0" y="1981170"/>
                </a:moveTo>
                <a:lnTo>
                  <a:pt x="526919" y="14683"/>
                </a:lnTo>
                <a:lnTo>
                  <a:pt x="728389" y="0"/>
                </a:lnTo>
                <a:lnTo>
                  <a:pt x="6365312" y="1510408"/>
                </a:lnTo>
                <a:lnTo>
                  <a:pt x="5776280" y="1456541"/>
                </a:lnTo>
                <a:cubicBezTo>
                  <a:pt x="5339119" y="1424644"/>
                  <a:pt x="4891376" y="1408099"/>
                  <a:pt x="4435543" y="1408099"/>
                </a:cubicBezTo>
                <a:cubicBezTo>
                  <a:pt x="2916096" y="1408099"/>
                  <a:pt x="1486554" y="1591913"/>
                  <a:pt x="239108" y="19155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9676001">
            <a:off x="7367240" y="6090866"/>
            <a:ext cx="5441155" cy="1693122"/>
          </a:xfrm>
          <a:custGeom>
            <a:avLst/>
            <a:gdLst>
              <a:gd name="connsiteX0" fmla="*/ 0 w 5441155"/>
              <a:gd name="connsiteY0" fmla="*/ 1322813 h 1693122"/>
              <a:gd name="connsiteX1" fmla="*/ 448605 w 5441155"/>
              <a:gd name="connsiteY1" fmla="*/ 0 h 1693122"/>
              <a:gd name="connsiteX2" fmla="*/ 5441155 w 5441155"/>
              <a:gd name="connsiteY2" fmla="*/ 1693122 h 1693122"/>
              <a:gd name="connsiteX3" fmla="*/ 5300053 w 5441155"/>
              <a:gd name="connsiteY3" fmla="*/ 1657575 h 1693122"/>
              <a:gd name="connsiteX4" fmla="*/ 1574243 w 5441155"/>
              <a:gd name="connsiteY4" fmla="*/ 1252886 h 1693122"/>
              <a:gd name="connsiteX5" fmla="*/ 265477 w 5441155"/>
              <a:gd name="connsiteY5" fmla="*/ 1300173 h 169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41155" h="1693122">
                <a:moveTo>
                  <a:pt x="0" y="1322813"/>
                </a:moveTo>
                <a:lnTo>
                  <a:pt x="448605" y="0"/>
                </a:lnTo>
                <a:lnTo>
                  <a:pt x="5441155" y="1693122"/>
                </a:lnTo>
                <a:lnTo>
                  <a:pt x="5300053" y="1657575"/>
                </a:lnTo>
                <a:cubicBezTo>
                  <a:pt x="4172939" y="1398225"/>
                  <a:pt x="2909134" y="1252886"/>
                  <a:pt x="1574243" y="1252886"/>
                </a:cubicBezTo>
                <a:cubicBezTo>
                  <a:pt x="1129279" y="1252886"/>
                  <a:pt x="692214" y="1269035"/>
                  <a:pt x="265477" y="1300173"/>
                </a:cubicBezTo>
                <a:close/>
              </a:path>
            </a:pathLst>
          </a:custGeom>
          <a:solidFill>
            <a:srgbClr val="0D215E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2" name="菱形 71"/>
          <p:cNvSpPr/>
          <p:nvPr userDrawn="1"/>
        </p:nvSpPr>
        <p:spPr>
          <a:xfrm>
            <a:off x="452438" y="5786438"/>
            <a:ext cx="1426368" cy="1621632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6" name="菱形 75"/>
          <p:cNvSpPr/>
          <p:nvPr userDrawn="1"/>
        </p:nvSpPr>
        <p:spPr>
          <a:xfrm>
            <a:off x="264163" y="4998847"/>
            <a:ext cx="376550" cy="42809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菱形 76"/>
          <p:cNvSpPr/>
          <p:nvPr userDrawn="1"/>
        </p:nvSpPr>
        <p:spPr>
          <a:xfrm>
            <a:off x="1741964" y="4863192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8" name="菱形 77"/>
          <p:cNvSpPr/>
          <p:nvPr userDrawn="1"/>
        </p:nvSpPr>
        <p:spPr>
          <a:xfrm>
            <a:off x="880368" y="5174342"/>
            <a:ext cx="570508" cy="64860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菱形 78"/>
          <p:cNvSpPr/>
          <p:nvPr userDrawn="1"/>
        </p:nvSpPr>
        <p:spPr>
          <a:xfrm>
            <a:off x="2385" y="4351589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0" name="菱形 79"/>
          <p:cNvSpPr/>
          <p:nvPr userDrawn="1"/>
        </p:nvSpPr>
        <p:spPr>
          <a:xfrm>
            <a:off x="9763109" y="-55479"/>
            <a:ext cx="570508" cy="64860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1" name="菱形 80"/>
          <p:cNvSpPr/>
          <p:nvPr userDrawn="1"/>
        </p:nvSpPr>
        <p:spPr>
          <a:xfrm>
            <a:off x="9469995" y="884942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2" name="菱形 81"/>
          <p:cNvSpPr/>
          <p:nvPr userDrawn="1"/>
        </p:nvSpPr>
        <p:spPr>
          <a:xfrm>
            <a:off x="11703910" y="1040517"/>
            <a:ext cx="1426368" cy="1621632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5F353-2FCE-456B-9E86-9BB55D4C5F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8979E-9590-4121-A7FE-17C996DBAA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20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image" Target="../media/image4.svg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4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4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任意多边形: 形状 55"/>
          <p:cNvSpPr/>
          <p:nvPr/>
        </p:nvSpPr>
        <p:spPr>
          <a:xfrm rot="20700000">
            <a:off x="-951978" y="-594579"/>
            <a:ext cx="6872894" cy="2257786"/>
          </a:xfrm>
          <a:custGeom>
            <a:avLst/>
            <a:gdLst>
              <a:gd name="connsiteX0" fmla="*/ 2124478 w 6529289"/>
              <a:gd name="connsiteY0" fmla="*/ 0 h 2144909"/>
              <a:gd name="connsiteX1" fmla="*/ 6529289 w 6529289"/>
              <a:gd name="connsiteY1" fmla="*/ 1180265 h 2144909"/>
              <a:gd name="connsiteX2" fmla="*/ 6069007 w 6529289"/>
              <a:gd name="connsiteY2" fmla="*/ 1138172 h 2144909"/>
              <a:gd name="connsiteX3" fmla="*/ 5021326 w 6529289"/>
              <a:gd name="connsiteY3" fmla="*/ 1100319 h 2144909"/>
              <a:gd name="connsiteX4" fmla="*/ 156777 w 6529289"/>
              <a:gd name="connsiteY4" fmla="*/ 2062535 h 2144909"/>
              <a:gd name="connsiteX5" fmla="*/ 0 w 6529289"/>
              <a:gd name="connsiteY5" fmla="*/ 2144909 h 2144909"/>
              <a:gd name="connsiteX6" fmla="*/ 522631 w 6529289"/>
              <a:gd name="connsiteY6" fmla="*/ 194423 h 2144909"/>
              <a:gd name="connsiteX7" fmla="*/ 962056 w 6529289"/>
              <a:gd name="connsiteY7" fmla="*/ 117621 h 2144909"/>
              <a:gd name="connsiteX8" fmla="*/ 1621350 w 6529289"/>
              <a:gd name="connsiteY8" fmla="*/ 36668 h 214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9289" h="2144909">
                <a:moveTo>
                  <a:pt x="2124478" y="0"/>
                </a:moveTo>
                <a:lnTo>
                  <a:pt x="6529289" y="1180265"/>
                </a:lnTo>
                <a:lnTo>
                  <a:pt x="6069007" y="1138172"/>
                </a:lnTo>
                <a:cubicBezTo>
                  <a:pt x="5727400" y="1113247"/>
                  <a:pt x="5377524" y="1100319"/>
                  <a:pt x="5021326" y="1100319"/>
                </a:cubicBezTo>
                <a:cubicBezTo>
                  <a:pt x="3121602" y="1100319"/>
                  <a:pt x="1401724" y="1468029"/>
                  <a:pt x="156777" y="2062535"/>
                </a:cubicBezTo>
                <a:lnTo>
                  <a:pt x="0" y="2144909"/>
                </a:lnTo>
                <a:lnTo>
                  <a:pt x="522631" y="194423"/>
                </a:lnTo>
                <a:lnTo>
                  <a:pt x="962056" y="117621"/>
                </a:lnTo>
                <a:cubicBezTo>
                  <a:pt x="1177474" y="85625"/>
                  <a:pt x="1397431" y="58549"/>
                  <a:pt x="1621350" y="366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4" name="任意多边形: 形状 53"/>
          <p:cNvSpPr/>
          <p:nvPr/>
        </p:nvSpPr>
        <p:spPr>
          <a:xfrm rot="20476001">
            <a:off x="-245851" y="-566290"/>
            <a:ext cx="4037171" cy="1247634"/>
          </a:xfrm>
          <a:custGeom>
            <a:avLst/>
            <a:gdLst>
              <a:gd name="connsiteX0" fmla="*/ 358241 w 4037171"/>
              <a:gd name="connsiteY0" fmla="*/ 0 h 1247634"/>
              <a:gd name="connsiteX1" fmla="*/ 4037171 w 4037171"/>
              <a:gd name="connsiteY1" fmla="*/ 1247634 h 1247634"/>
              <a:gd name="connsiteX2" fmla="*/ 3944350 w 4037171"/>
              <a:gd name="connsiteY2" fmla="*/ 1224250 h 1247634"/>
              <a:gd name="connsiteX3" fmla="*/ 1493404 w 4037171"/>
              <a:gd name="connsiteY3" fmla="*/ 958034 h 1247634"/>
              <a:gd name="connsiteX4" fmla="*/ 354064 w 4037171"/>
              <a:gd name="connsiteY4" fmla="*/ 1012882 h 1247634"/>
              <a:gd name="connsiteX5" fmla="*/ 0 w 4037171"/>
              <a:gd name="connsiteY5" fmla="*/ 1056356 h 1247634"/>
              <a:gd name="connsiteX6" fmla="*/ 0 w 4037171"/>
              <a:gd name="connsiteY6" fmla="*/ 1056355 h 12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7171" h="1247634">
                <a:moveTo>
                  <a:pt x="358241" y="0"/>
                </a:moveTo>
                <a:lnTo>
                  <a:pt x="4037171" y="1247634"/>
                </a:lnTo>
                <a:lnTo>
                  <a:pt x="3944350" y="1224250"/>
                </a:lnTo>
                <a:cubicBezTo>
                  <a:pt x="3202902" y="1053642"/>
                  <a:pt x="2371534" y="958034"/>
                  <a:pt x="1493404" y="958034"/>
                </a:cubicBezTo>
                <a:cubicBezTo>
                  <a:pt x="1103124" y="958034"/>
                  <a:pt x="722081" y="976920"/>
                  <a:pt x="354064" y="1012882"/>
                </a:cubicBezTo>
                <a:lnTo>
                  <a:pt x="0" y="1056356"/>
                </a:lnTo>
                <a:lnTo>
                  <a:pt x="0" y="1056355"/>
                </a:lnTo>
                <a:close/>
              </a:path>
            </a:pathLst>
          </a:custGeom>
          <a:solidFill>
            <a:srgbClr val="0D215E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9" name="任意多边形: 形状 58"/>
          <p:cNvSpPr/>
          <p:nvPr/>
        </p:nvSpPr>
        <p:spPr>
          <a:xfrm rot="9900000">
            <a:off x="2861319" y="4107541"/>
            <a:ext cx="9925511" cy="3260587"/>
          </a:xfrm>
          <a:custGeom>
            <a:avLst/>
            <a:gdLst>
              <a:gd name="connsiteX0" fmla="*/ 2124478 w 6529289"/>
              <a:gd name="connsiteY0" fmla="*/ 0 h 2144909"/>
              <a:gd name="connsiteX1" fmla="*/ 6529289 w 6529289"/>
              <a:gd name="connsiteY1" fmla="*/ 1180265 h 2144909"/>
              <a:gd name="connsiteX2" fmla="*/ 6069007 w 6529289"/>
              <a:gd name="connsiteY2" fmla="*/ 1138172 h 2144909"/>
              <a:gd name="connsiteX3" fmla="*/ 5021326 w 6529289"/>
              <a:gd name="connsiteY3" fmla="*/ 1100319 h 2144909"/>
              <a:gd name="connsiteX4" fmla="*/ 156777 w 6529289"/>
              <a:gd name="connsiteY4" fmla="*/ 2062535 h 2144909"/>
              <a:gd name="connsiteX5" fmla="*/ 0 w 6529289"/>
              <a:gd name="connsiteY5" fmla="*/ 2144909 h 2144909"/>
              <a:gd name="connsiteX6" fmla="*/ 522631 w 6529289"/>
              <a:gd name="connsiteY6" fmla="*/ 194423 h 2144909"/>
              <a:gd name="connsiteX7" fmla="*/ 962056 w 6529289"/>
              <a:gd name="connsiteY7" fmla="*/ 117621 h 2144909"/>
              <a:gd name="connsiteX8" fmla="*/ 1621350 w 6529289"/>
              <a:gd name="connsiteY8" fmla="*/ 36668 h 214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9289" h="2144909">
                <a:moveTo>
                  <a:pt x="2124478" y="0"/>
                </a:moveTo>
                <a:lnTo>
                  <a:pt x="6529289" y="1180265"/>
                </a:lnTo>
                <a:lnTo>
                  <a:pt x="6069007" y="1138172"/>
                </a:lnTo>
                <a:cubicBezTo>
                  <a:pt x="5727400" y="1113247"/>
                  <a:pt x="5377524" y="1100319"/>
                  <a:pt x="5021326" y="1100319"/>
                </a:cubicBezTo>
                <a:cubicBezTo>
                  <a:pt x="3121602" y="1100319"/>
                  <a:pt x="1401724" y="1468029"/>
                  <a:pt x="156777" y="2062535"/>
                </a:cubicBezTo>
                <a:lnTo>
                  <a:pt x="0" y="2144909"/>
                </a:lnTo>
                <a:lnTo>
                  <a:pt x="522631" y="194423"/>
                </a:lnTo>
                <a:lnTo>
                  <a:pt x="962056" y="117621"/>
                </a:lnTo>
                <a:cubicBezTo>
                  <a:pt x="1177474" y="85625"/>
                  <a:pt x="1397431" y="58549"/>
                  <a:pt x="1621350" y="366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0" name="任意多边形: 形状 59"/>
          <p:cNvSpPr/>
          <p:nvPr/>
        </p:nvSpPr>
        <p:spPr>
          <a:xfrm rot="9676001">
            <a:off x="6432396" y="5828242"/>
            <a:ext cx="6137113" cy="1896593"/>
          </a:xfrm>
          <a:custGeom>
            <a:avLst/>
            <a:gdLst>
              <a:gd name="connsiteX0" fmla="*/ 358241 w 4037171"/>
              <a:gd name="connsiteY0" fmla="*/ 0 h 1247634"/>
              <a:gd name="connsiteX1" fmla="*/ 4037171 w 4037171"/>
              <a:gd name="connsiteY1" fmla="*/ 1247634 h 1247634"/>
              <a:gd name="connsiteX2" fmla="*/ 3944350 w 4037171"/>
              <a:gd name="connsiteY2" fmla="*/ 1224250 h 1247634"/>
              <a:gd name="connsiteX3" fmla="*/ 1493404 w 4037171"/>
              <a:gd name="connsiteY3" fmla="*/ 958034 h 1247634"/>
              <a:gd name="connsiteX4" fmla="*/ 354064 w 4037171"/>
              <a:gd name="connsiteY4" fmla="*/ 1012882 h 1247634"/>
              <a:gd name="connsiteX5" fmla="*/ 0 w 4037171"/>
              <a:gd name="connsiteY5" fmla="*/ 1056356 h 1247634"/>
              <a:gd name="connsiteX6" fmla="*/ 0 w 4037171"/>
              <a:gd name="connsiteY6" fmla="*/ 1056355 h 12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7171" h="1247634">
                <a:moveTo>
                  <a:pt x="358241" y="0"/>
                </a:moveTo>
                <a:lnTo>
                  <a:pt x="4037171" y="1247634"/>
                </a:lnTo>
                <a:lnTo>
                  <a:pt x="3944350" y="1224250"/>
                </a:lnTo>
                <a:cubicBezTo>
                  <a:pt x="3202902" y="1053642"/>
                  <a:pt x="2371534" y="958034"/>
                  <a:pt x="1493404" y="958034"/>
                </a:cubicBezTo>
                <a:cubicBezTo>
                  <a:pt x="1103124" y="958034"/>
                  <a:pt x="722081" y="976920"/>
                  <a:pt x="354064" y="1012882"/>
                </a:cubicBezTo>
                <a:lnTo>
                  <a:pt x="0" y="1056356"/>
                </a:lnTo>
                <a:lnTo>
                  <a:pt x="0" y="1056355"/>
                </a:lnTo>
                <a:close/>
              </a:path>
            </a:pathLst>
          </a:custGeom>
          <a:solidFill>
            <a:srgbClr val="0D215E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085235" y="1968841"/>
            <a:ext cx="1024128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solidFill>
                  <a:srgbClr val="0D215E"/>
                </a:solidFill>
                <a:latin typeface="Aa厚底黑" panose="00020600040101010101" pitchFamily="18" charset="-122"/>
                <a:ea typeface="Aa厚底黑" panose="00020600040101010101" pitchFamily="18" charset="-122"/>
              </a:rPr>
              <a:t>上位机技术解决方案</a:t>
            </a:r>
            <a:endParaRPr lang="zh-CN" altLang="en-US" sz="8800" dirty="0">
              <a:solidFill>
                <a:srgbClr val="0D215E"/>
              </a:solidFill>
              <a:latin typeface="Aa厚底黑" panose="00020600040101010101" pitchFamily="18" charset="-122"/>
              <a:ea typeface="Aa厚底黑" panose="00020600040101010101" pitchFamily="18" charset="-122"/>
            </a:endParaRPr>
          </a:p>
        </p:txBody>
      </p:sp>
      <p:sp>
        <p:nvSpPr>
          <p:cNvPr id="72" name="菱形 71"/>
          <p:cNvSpPr/>
          <p:nvPr/>
        </p:nvSpPr>
        <p:spPr>
          <a:xfrm>
            <a:off x="452438" y="5786438"/>
            <a:ext cx="1426368" cy="1621632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3" name="菱形 72"/>
          <p:cNvSpPr/>
          <p:nvPr/>
        </p:nvSpPr>
        <p:spPr>
          <a:xfrm>
            <a:off x="10292777" y="-541870"/>
            <a:ext cx="1456312" cy="162139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5" name="矩形: 剪去对角 74"/>
          <p:cNvSpPr/>
          <p:nvPr/>
        </p:nvSpPr>
        <p:spPr>
          <a:xfrm>
            <a:off x="2722005" y="3601327"/>
            <a:ext cx="6747990" cy="597737"/>
          </a:xfrm>
          <a:prstGeom prst="snip2DiagRect">
            <a:avLst>
              <a:gd name="adj1" fmla="val 50000"/>
              <a:gd name="adj2" fmla="val 0"/>
            </a:avLst>
          </a:pr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6" name="菱形 75"/>
          <p:cNvSpPr/>
          <p:nvPr/>
        </p:nvSpPr>
        <p:spPr>
          <a:xfrm>
            <a:off x="264163" y="4998847"/>
            <a:ext cx="376550" cy="42809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菱形 76"/>
          <p:cNvSpPr/>
          <p:nvPr/>
        </p:nvSpPr>
        <p:spPr>
          <a:xfrm>
            <a:off x="1741964" y="4863192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8" name="菱形 77"/>
          <p:cNvSpPr/>
          <p:nvPr/>
        </p:nvSpPr>
        <p:spPr>
          <a:xfrm>
            <a:off x="880368" y="5174342"/>
            <a:ext cx="570508" cy="64860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菱形 78"/>
          <p:cNvSpPr/>
          <p:nvPr/>
        </p:nvSpPr>
        <p:spPr>
          <a:xfrm>
            <a:off x="2385" y="4351589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0" name="菱形 79"/>
          <p:cNvSpPr/>
          <p:nvPr/>
        </p:nvSpPr>
        <p:spPr>
          <a:xfrm>
            <a:off x="9763109" y="-55479"/>
            <a:ext cx="570508" cy="64860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1" name="菱形 80"/>
          <p:cNvSpPr/>
          <p:nvPr/>
        </p:nvSpPr>
        <p:spPr>
          <a:xfrm>
            <a:off x="9469995" y="884942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2" name="菱形 81"/>
          <p:cNvSpPr/>
          <p:nvPr/>
        </p:nvSpPr>
        <p:spPr>
          <a:xfrm>
            <a:off x="11703910" y="1040517"/>
            <a:ext cx="1426368" cy="1621632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3939028" y="5427254"/>
            <a:ext cx="4313944" cy="313984"/>
            <a:chOff x="1253246" y="4118390"/>
            <a:chExt cx="4313944" cy="313984"/>
          </a:xfrm>
        </p:grpSpPr>
        <p:sp>
          <p:nvSpPr>
            <p:cNvPr id="84" name="文本框 83"/>
            <p:cNvSpPr txBox="1"/>
            <p:nvPr/>
          </p:nvSpPr>
          <p:spPr>
            <a:xfrm>
              <a:off x="1561022" y="4125669"/>
              <a:ext cx="202712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sym typeface="+mn-lt"/>
                </a:rPr>
                <a:t>编写人：陈俊希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8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3898985" y="4118390"/>
              <a:ext cx="166820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sym typeface="+mn-lt"/>
                </a:rPr>
                <a:t>2025.03.10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8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cs typeface="+mn-ea"/>
              </a:endParaRPr>
            </a:p>
          </p:txBody>
        </p:sp>
      </p:grpSp>
      <p:sp>
        <p:nvSpPr>
          <p:cNvPr id="88" name="文本框 87"/>
          <p:cNvSpPr txBox="1"/>
          <p:nvPr/>
        </p:nvSpPr>
        <p:spPr>
          <a:xfrm>
            <a:off x="3436372" y="4395340"/>
            <a:ext cx="531925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此方案包括对上位机、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MES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、服务器、电子看板的设计。使用技术有：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Winform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WPF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MySQL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WebAPI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JQuery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TCP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Modbus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884682" y="3736056"/>
            <a:ext cx="44767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此方案适配于生产产线或任意单台设备的上位机</a:t>
            </a:r>
            <a:endParaRPr lang="zh-CN" altLang="en-US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832059" y="241926"/>
            <a:ext cx="2553397" cy="584775"/>
            <a:chOff x="2517807" y="2023841"/>
            <a:chExt cx="2553397" cy="584775"/>
          </a:xfrm>
        </p:grpSpPr>
        <p:sp>
          <p:nvSpPr>
            <p:cNvPr id="15" name="文本框 14"/>
            <p:cNvSpPr txBox="1"/>
            <p:nvPr/>
          </p:nvSpPr>
          <p:spPr>
            <a:xfrm>
              <a:off x="3101434" y="2114049"/>
              <a:ext cx="196977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D215E"/>
                  </a:solidFill>
                </a:rPr>
                <a:t>项目框架及设计</a:t>
              </a:r>
              <a:endParaRPr lang="zh-CN" altLang="en-US" sz="2000" b="1" dirty="0">
                <a:solidFill>
                  <a:srgbClr val="0D215E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7807" y="2023841"/>
              <a:ext cx="6832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0D215E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rPr>
                <a:t>01</a:t>
              </a:r>
              <a:endParaRPr lang="zh-CN" altLang="en-US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4" name="图片 43" descr="项目架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390" y="926465"/>
            <a:ext cx="8697595" cy="5142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4832350" y="241935"/>
            <a:ext cx="683260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01</a:t>
            </a:r>
            <a:endParaRPr lang="zh-CN" altLang="en-US" sz="3200" dirty="0">
              <a:solidFill>
                <a:srgbClr val="0D215E"/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415686" y="332134"/>
            <a:ext cx="19697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 dirty="0">
                <a:solidFill>
                  <a:srgbClr val="0D215E"/>
                </a:solidFill>
              </a:rPr>
              <a:t>项目框架及设计</a:t>
            </a:r>
            <a:endParaRPr lang="zh-CN" altLang="en-US" sz="2000" b="1" dirty="0">
              <a:solidFill>
                <a:srgbClr val="0D215E"/>
              </a:solidFill>
            </a:endParaRPr>
          </a:p>
        </p:txBody>
      </p:sp>
      <p:sp>
        <p:nvSpPr>
          <p:cNvPr id="3" name="Freeform 53"/>
          <p:cNvSpPr/>
          <p:nvPr>
            <p:custDataLst>
              <p:tags r:id="rId1"/>
            </p:custDataLst>
          </p:nvPr>
        </p:nvSpPr>
        <p:spPr bwMode="auto">
          <a:xfrm>
            <a:off x="3499485" y="4285615"/>
            <a:ext cx="2557145" cy="1656080"/>
          </a:xfrm>
          <a:custGeom>
            <a:avLst/>
            <a:gdLst>
              <a:gd name="T0" fmla="*/ 2468710 w 112"/>
              <a:gd name="T1" fmla="*/ 1519607 h 69"/>
              <a:gd name="T2" fmla="*/ 1917659 w 112"/>
              <a:gd name="T3" fmla="*/ 1211281 h 69"/>
              <a:gd name="T4" fmla="*/ 551051 w 112"/>
              <a:gd name="T5" fmla="*/ 1211281 h 69"/>
              <a:gd name="T6" fmla="*/ 0 w 112"/>
              <a:gd name="T7" fmla="*/ 660699 h 69"/>
              <a:gd name="T8" fmla="*/ 0 w 112"/>
              <a:gd name="T9" fmla="*/ 550582 h 69"/>
              <a:gd name="T10" fmla="*/ 551051 w 112"/>
              <a:gd name="T11" fmla="*/ 0 h 69"/>
              <a:gd name="T12" fmla="*/ 1917659 w 112"/>
              <a:gd name="T13" fmla="*/ 0 h 69"/>
              <a:gd name="T14" fmla="*/ 2468710 w 112"/>
              <a:gd name="T15" fmla="*/ 550582 h 69"/>
              <a:gd name="T16" fmla="*/ 2468710 w 112"/>
              <a:gd name="T17" fmla="*/ 1519607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2" h="69">
                <a:moveTo>
                  <a:pt x="112" y="69"/>
                </a:moveTo>
                <a:cubicBezTo>
                  <a:pt x="107" y="61"/>
                  <a:pt x="98" y="55"/>
                  <a:pt x="87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11" y="55"/>
                  <a:pt x="0" y="43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101" y="0"/>
                  <a:pt x="112" y="11"/>
                  <a:pt x="112" y="25"/>
                </a:cubicBezTo>
                <a:lnTo>
                  <a:pt x="112" y="69"/>
                </a:lnTo>
                <a:close/>
              </a:path>
            </a:pathLst>
          </a:custGeom>
          <a:solidFill>
            <a:srgbClr val="0D215E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Freeform 56"/>
          <p:cNvSpPr/>
          <p:nvPr>
            <p:custDataLst>
              <p:tags r:id="rId2"/>
            </p:custDataLst>
          </p:nvPr>
        </p:nvSpPr>
        <p:spPr bwMode="auto">
          <a:xfrm>
            <a:off x="3920186" y="3100972"/>
            <a:ext cx="2155772" cy="1292005"/>
          </a:xfrm>
          <a:custGeom>
            <a:avLst/>
            <a:gdLst>
              <a:gd name="T0" fmla="*/ 1877464 w 85"/>
              <a:gd name="T1" fmla="*/ 1125443 h 51"/>
              <a:gd name="T2" fmla="*/ 1457796 w 85"/>
              <a:gd name="T3" fmla="*/ 882700 h 51"/>
              <a:gd name="T4" fmla="*/ 419668 w 85"/>
              <a:gd name="T5" fmla="*/ 882700 h 51"/>
              <a:gd name="T6" fmla="*/ 0 w 85"/>
              <a:gd name="T7" fmla="*/ 485485 h 51"/>
              <a:gd name="T8" fmla="*/ 0 w 85"/>
              <a:gd name="T9" fmla="*/ 397215 h 51"/>
              <a:gd name="T10" fmla="*/ 419668 w 85"/>
              <a:gd name="T11" fmla="*/ 0 h 51"/>
              <a:gd name="T12" fmla="*/ 1457796 w 85"/>
              <a:gd name="T13" fmla="*/ 0 h 51"/>
              <a:gd name="T14" fmla="*/ 1877464 w 85"/>
              <a:gd name="T15" fmla="*/ 397215 h 51"/>
              <a:gd name="T16" fmla="*/ 1877464 w 85"/>
              <a:gd name="T17" fmla="*/ 1125443 h 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5" h="51">
                <a:moveTo>
                  <a:pt x="85" y="51"/>
                </a:moveTo>
                <a:cubicBezTo>
                  <a:pt x="81" y="45"/>
                  <a:pt x="74" y="40"/>
                  <a:pt x="66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9" y="40"/>
                  <a:pt x="0" y="32"/>
                  <a:pt x="0" y="22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9" y="0"/>
                  <a:pt x="19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76" y="0"/>
                  <a:pt x="85" y="8"/>
                  <a:pt x="85" y="18"/>
                </a:cubicBezTo>
                <a:lnTo>
                  <a:pt x="85" y="51"/>
                </a:lnTo>
                <a:close/>
              </a:path>
            </a:pathLst>
          </a:cu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Freeform 58"/>
          <p:cNvSpPr/>
          <p:nvPr>
            <p:custDataLst>
              <p:tags r:id="rId3"/>
            </p:custDataLst>
          </p:nvPr>
        </p:nvSpPr>
        <p:spPr bwMode="auto">
          <a:xfrm>
            <a:off x="6216883" y="4628515"/>
            <a:ext cx="2529343" cy="1541660"/>
          </a:xfrm>
          <a:custGeom>
            <a:avLst/>
            <a:gdLst>
              <a:gd name="T0" fmla="*/ 0 w 100"/>
              <a:gd name="T1" fmla="*/ 1343270 h 61"/>
              <a:gd name="T2" fmla="*/ 484926 w 100"/>
              <a:gd name="T3" fmla="*/ 1056999 h 61"/>
              <a:gd name="T4" fmla="*/ 1719281 w 100"/>
              <a:gd name="T5" fmla="*/ 1056999 h 61"/>
              <a:gd name="T6" fmla="*/ 2204207 w 100"/>
              <a:gd name="T7" fmla="*/ 572541 h 61"/>
              <a:gd name="T8" fmla="*/ 2204207 w 100"/>
              <a:gd name="T9" fmla="*/ 484458 h 61"/>
              <a:gd name="T10" fmla="*/ 1719281 w 100"/>
              <a:gd name="T11" fmla="*/ 0 h 61"/>
              <a:gd name="T12" fmla="*/ 484926 w 100"/>
              <a:gd name="T13" fmla="*/ 0 h 61"/>
              <a:gd name="T14" fmla="*/ 0 w 100"/>
              <a:gd name="T15" fmla="*/ 484458 h 61"/>
              <a:gd name="T16" fmla="*/ 0 w 100"/>
              <a:gd name="T17" fmla="*/ 1343270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0" h="61">
                <a:moveTo>
                  <a:pt x="0" y="61"/>
                </a:moveTo>
                <a:cubicBezTo>
                  <a:pt x="4" y="54"/>
                  <a:pt x="13" y="48"/>
                  <a:pt x="22" y="48"/>
                </a:cubicBezTo>
                <a:cubicBezTo>
                  <a:pt x="78" y="48"/>
                  <a:pt x="78" y="48"/>
                  <a:pt x="78" y="48"/>
                </a:cubicBezTo>
                <a:cubicBezTo>
                  <a:pt x="90" y="48"/>
                  <a:pt x="100" y="38"/>
                  <a:pt x="100" y="26"/>
                </a:cubicBezTo>
                <a:cubicBezTo>
                  <a:pt x="100" y="22"/>
                  <a:pt x="100" y="22"/>
                  <a:pt x="100" y="22"/>
                </a:cubicBezTo>
                <a:cubicBezTo>
                  <a:pt x="100" y="10"/>
                  <a:pt x="90" y="0"/>
                  <a:pt x="78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lnTo>
                  <a:pt x="0" y="61"/>
                </a:lnTo>
                <a:close/>
              </a:path>
            </a:pathLst>
          </a:custGeom>
          <a:solidFill>
            <a:srgbClr val="0D215E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Freeform 60"/>
          <p:cNvSpPr/>
          <p:nvPr>
            <p:custDataLst>
              <p:tags r:id="rId4"/>
            </p:custDataLst>
          </p:nvPr>
        </p:nvSpPr>
        <p:spPr bwMode="auto">
          <a:xfrm>
            <a:off x="6216883" y="3602564"/>
            <a:ext cx="1820470" cy="1113422"/>
          </a:xfrm>
          <a:custGeom>
            <a:avLst/>
            <a:gdLst>
              <a:gd name="T0" fmla="*/ 0 w 72"/>
              <a:gd name="T1" fmla="*/ 969852 h 44"/>
              <a:gd name="T2" fmla="*/ 352673 w 72"/>
              <a:gd name="T3" fmla="*/ 749431 h 44"/>
              <a:gd name="T4" fmla="*/ 1234355 w 72"/>
              <a:gd name="T5" fmla="*/ 749431 h 44"/>
              <a:gd name="T6" fmla="*/ 1587028 w 72"/>
              <a:gd name="T7" fmla="*/ 396758 h 44"/>
              <a:gd name="T8" fmla="*/ 1587028 w 72"/>
              <a:gd name="T9" fmla="*/ 352673 h 44"/>
              <a:gd name="T10" fmla="*/ 1234355 w 72"/>
              <a:gd name="T11" fmla="*/ 0 h 44"/>
              <a:gd name="T12" fmla="*/ 352673 w 72"/>
              <a:gd name="T13" fmla="*/ 0 h 44"/>
              <a:gd name="T14" fmla="*/ 0 w 72"/>
              <a:gd name="T15" fmla="*/ 352673 h 44"/>
              <a:gd name="T16" fmla="*/ 0 w 72"/>
              <a:gd name="T17" fmla="*/ 969852 h 4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2" h="44">
                <a:moveTo>
                  <a:pt x="0" y="44"/>
                </a:moveTo>
                <a:cubicBezTo>
                  <a:pt x="3" y="38"/>
                  <a:pt x="9" y="34"/>
                  <a:pt x="16" y="34"/>
                </a:cubicBezTo>
                <a:cubicBezTo>
                  <a:pt x="56" y="34"/>
                  <a:pt x="56" y="34"/>
                  <a:pt x="56" y="34"/>
                </a:cubicBezTo>
                <a:cubicBezTo>
                  <a:pt x="65" y="34"/>
                  <a:pt x="72" y="27"/>
                  <a:pt x="72" y="18"/>
                </a:cubicBezTo>
                <a:cubicBezTo>
                  <a:pt x="72" y="16"/>
                  <a:pt x="72" y="16"/>
                  <a:pt x="72" y="16"/>
                </a:cubicBezTo>
                <a:cubicBezTo>
                  <a:pt x="72" y="7"/>
                  <a:pt x="65" y="0"/>
                  <a:pt x="5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lnTo>
                  <a:pt x="0" y="44"/>
                </a:lnTo>
                <a:close/>
              </a:path>
            </a:pathLst>
          </a:cu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Box 24"/>
          <p:cNvSpPr txBox="1"/>
          <p:nvPr>
            <p:custDataLst>
              <p:tags r:id="rId5"/>
            </p:custDataLst>
          </p:nvPr>
        </p:nvSpPr>
        <p:spPr>
          <a:xfrm>
            <a:off x="4563745" y="3432175"/>
            <a:ext cx="104584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用户管理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TextBox 25"/>
          <p:cNvSpPr txBox="1"/>
          <p:nvPr>
            <p:custDataLst>
              <p:tags r:id="rId6"/>
            </p:custDataLst>
          </p:nvPr>
        </p:nvSpPr>
        <p:spPr>
          <a:xfrm>
            <a:off x="6654800" y="3865245"/>
            <a:ext cx="10134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系统设置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TextBox 33"/>
          <p:cNvSpPr txBox="1"/>
          <p:nvPr>
            <p:custDataLst>
              <p:tags r:id="rId7"/>
            </p:custDataLst>
          </p:nvPr>
        </p:nvSpPr>
        <p:spPr>
          <a:xfrm>
            <a:off x="4289425" y="4772660"/>
            <a:ext cx="10420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数据采集</a:t>
            </a:r>
            <a:endParaRPr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TextBox 40"/>
          <p:cNvSpPr txBox="1"/>
          <p:nvPr>
            <p:custDataLst>
              <p:tags r:id="rId8"/>
            </p:custDataLst>
          </p:nvPr>
        </p:nvSpPr>
        <p:spPr>
          <a:xfrm>
            <a:off x="7022465" y="5055235"/>
            <a:ext cx="115506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数据统计</a:t>
            </a:r>
            <a:endParaRPr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3" name="Freeform 56"/>
          <p:cNvSpPr/>
          <p:nvPr>
            <p:custDataLst>
              <p:tags r:id="rId9"/>
            </p:custDataLst>
          </p:nvPr>
        </p:nvSpPr>
        <p:spPr bwMode="auto">
          <a:xfrm>
            <a:off x="4563745" y="2167255"/>
            <a:ext cx="1511935" cy="981710"/>
          </a:xfrm>
          <a:custGeom>
            <a:avLst/>
            <a:gdLst>
              <a:gd name="T0" fmla="*/ 1877464 w 85"/>
              <a:gd name="T1" fmla="*/ 1125443 h 51"/>
              <a:gd name="T2" fmla="*/ 1457796 w 85"/>
              <a:gd name="T3" fmla="*/ 882700 h 51"/>
              <a:gd name="T4" fmla="*/ 419668 w 85"/>
              <a:gd name="T5" fmla="*/ 882700 h 51"/>
              <a:gd name="T6" fmla="*/ 0 w 85"/>
              <a:gd name="T7" fmla="*/ 485485 h 51"/>
              <a:gd name="T8" fmla="*/ 0 w 85"/>
              <a:gd name="T9" fmla="*/ 397215 h 51"/>
              <a:gd name="T10" fmla="*/ 419668 w 85"/>
              <a:gd name="T11" fmla="*/ 0 h 51"/>
              <a:gd name="T12" fmla="*/ 1457796 w 85"/>
              <a:gd name="T13" fmla="*/ 0 h 51"/>
              <a:gd name="T14" fmla="*/ 1877464 w 85"/>
              <a:gd name="T15" fmla="*/ 397215 h 51"/>
              <a:gd name="T16" fmla="*/ 1877464 w 85"/>
              <a:gd name="T17" fmla="*/ 1125443 h 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5" h="51">
                <a:moveTo>
                  <a:pt x="85" y="51"/>
                </a:moveTo>
                <a:cubicBezTo>
                  <a:pt x="81" y="45"/>
                  <a:pt x="74" y="40"/>
                  <a:pt x="66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9" y="40"/>
                  <a:pt x="0" y="32"/>
                  <a:pt x="0" y="22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9" y="0"/>
                  <a:pt x="19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76" y="0"/>
                  <a:pt x="85" y="8"/>
                  <a:pt x="85" y="18"/>
                </a:cubicBezTo>
                <a:lnTo>
                  <a:pt x="85" y="51"/>
                </a:lnTo>
                <a:close/>
              </a:path>
            </a:pathLst>
          </a:cu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Freeform 60"/>
          <p:cNvSpPr/>
          <p:nvPr>
            <p:custDataLst>
              <p:tags r:id="rId10"/>
            </p:custDataLst>
          </p:nvPr>
        </p:nvSpPr>
        <p:spPr bwMode="auto">
          <a:xfrm>
            <a:off x="6243955" y="2720975"/>
            <a:ext cx="1346835" cy="881380"/>
          </a:xfrm>
          <a:custGeom>
            <a:avLst/>
            <a:gdLst>
              <a:gd name="T0" fmla="*/ 0 w 72"/>
              <a:gd name="T1" fmla="*/ 969852 h 44"/>
              <a:gd name="T2" fmla="*/ 352673 w 72"/>
              <a:gd name="T3" fmla="*/ 749431 h 44"/>
              <a:gd name="T4" fmla="*/ 1234355 w 72"/>
              <a:gd name="T5" fmla="*/ 749431 h 44"/>
              <a:gd name="T6" fmla="*/ 1587028 w 72"/>
              <a:gd name="T7" fmla="*/ 396758 h 44"/>
              <a:gd name="T8" fmla="*/ 1587028 w 72"/>
              <a:gd name="T9" fmla="*/ 352673 h 44"/>
              <a:gd name="T10" fmla="*/ 1234355 w 72"/>
              <a:gd name="T11" fmla="*/ 0 h 44"/>
              <a:gd name="T12" fmla="*/ 352673 w 72"/>
              <a:gd name="T13" fmla="*/ 0 h 44"/>
              <a:gd name="T14" fmla="*/ 0 w 72"/>
              <a:gd name="T15" fmla="*/ 352673 h 44"/>
              <a:gd name="T16" fmla="*/ 0 w 72"/>
              <a:gd name="T17" fmla="*/ 969852 h 4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2" h="44">
                <a:moveTo>
                  <a:pt x="0" y="44"/>
                </a:moveTo>
                <a:cubicBezTo>
                  <a:pt x="3" y="38"/>
                  <a:pt x="9" y="34"/>
                  <a:pt x="16" y="34"/>
                </a:cubicBezTo>
                <a:cubicBezTo>
                  <a:pt x="56" y="34"/>
                  <a:pt x="56" y="34"/>
                  <a:pt x="56" y="34"/>
                </a:cubicBezTo>
                <a:cubicBezTo>
                  <a:pt x="65" y="34"/>
                  <a:pt x="72" y="27"/>
                  <a:pt x="72" y="18"/>
                </a:cubicBezTo>
                <a:cubicBezTo>
                  <a:pt x="72" y="16"/>
                  <a:pt x="72" y="16"/>
                  <a:pt x="72" y="16"/>
                </a:cubicBezTo>
                <a:cubicBezTo>
                  <a:pt x="72" y="7"/>
                  <a:pt x="65" y="0"/>
                  <a:pt x="5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lnTo>
                  <a:pt x="0" y="44"/>
                </a:lnTo>
                <a:close/>
              </a:path>
            </a:pathLst>
          </a:cu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29105" y="799465"/>
            <a:ext cx="6586855" cy="119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400">
                <a:sym typeface="+mn-ea"/>
              </a:rPr>
              <a:t>一、</a:t>
            </a:r>
            <a:r>
              <a:rPr lang="en-US" altLang="zh-CN" sz="2400">
                <a:sym typeface="+mn-ea"/>
              </a:rPr>
              <a:t>SCADA</a:t>
            </a:r>
            <a:r>
              <a:rPr lang="zh-CN" altLang="en-US" sz="2400">
                <a:sym typeface="+mn-ea"/>
              </a:rPr>
              <a:t>系统</a:t>
            </a:r>
            <a:r>
              <a:rPr lang="en-US" altLang="zh-CN" sz="2400">
                <a:sym typeface="+mn-ea"/>
              </a:rPr>
              <a:t>(GeneralFrameSystem):</a:t>
            </a:r>
            <a:endParaRPr lang="zh-CN" altLang="en-US">
              <a:sym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开发技术：</a:t>
            </a:r>
            <a:r>
              <a:rPr lang="en-US" altLang="zh-CN">
                <a:sym typeface="+mn-ea"/>
              </a:rPr>
              <a:t>Winform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MySQL</a:t>
            </a:r>
            <a:endParaRPr lang="en-US" altLang="zh-CN">
              <a:sym typeface="+mn-ea"/>
            </a:endParaRPr>
          </a:p>
        </p:txBody>
      </p:sp>
      <p:sp>
        <p:nvSpPr>
          <p:cNvPr id="46" name="TextBox 24"/>
          <p:cNvSpPr txBox="1"/>
          <p:nvPr>
            <p:custDataLst>
              <p:tags r:id="rId11"/>
            </p:custDataLst>
          </p:nvPr>
        </p:nvSpPr>
        <p:spPr>
          <a:xfrm>
            <a:off x="4852035" y="2383790"/>
            <a:ext cx="10287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历史数据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TextBox 24"/>
          <p:cNvSpPr txBox="1"/>
          <p:nvPr>
            <p:custDataLst>
              <p:tags r:id="rId12"/>
            </p:custDataLst>
          </p:nvPr>
        </p:nvSpPr>
        <p:spPr>
          <a:xfrm>
            <a:off x="6403340" y="2877185"/>
            <a:ext cx="102806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生产日志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511935" y="2236470"/>
            <a:ext cx="2976880" cy="63055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200" dirty="0">
                <a:sym typeface="HarmonyOS Sans SC Light" panose="00000400000000000000" pitchFamily="2" charset="-122"/>
              </a:rPr>
              <a:t>可按照时间、配方等筛选条件进行数据查询，查询数据可以分页</a:t>
            </a:r>
            <a:endParaRPr lang="zh-CN" altLang="en-US" sz="1200" dirty="0">
              <a:sym typeface="HarmonyOS Sans SC Light" panose="00000400000000000000" pitchFamily="2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4"/>
            </p:custDataLst>
          </p:nvPr>
        </p:nvSpPr>
        <p:spPr>
          <a:xfrm>
            <a:off x="7650480" y="2875915"/>
            <a:ext cx="2717800" cy="41402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l"/>
            <a:r>
              <a:rPr lang="en-US" altLang="zh-CN" sz="1200" dirty="0">
                <a:sym typeface="HarmonyOS Sans SC Light" panose="00000400000000000000" pitchFamily="2" charset="-122"/>
              </a:rPr>
              <a:t>MES</a:t>
            </a:r>
            <a:r>
              <a:rPr lang="zh-CN" altLang="en-US" sz="1200" dirty="0">
                <a:sym typeface="HarmonyOS Sans SC Light" panose="00000400000000000000" pitchFamily="2" charset="-122"/>
              </a:rPr>
              <a:t>交互、生产步骤、看板交互三部分</a:t>
            </a:r>
            <a:endParaRPr lang="zh-CN" altLang="en-US" sz="1200" dirty="0">
              <a:sym typeface="HarmonyOS Sans SC Light" panose="00000400000000000000" pitchFamily="2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802640" y="3261360"/>
            <a:ext cx="2976880" cy="63055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200" dirty="0">
                <a:sym typeface="HarmonyOS Sans SC Light" panose="00000400000000000000" pitchFamily="2" charset="-122"/>
              </a:rPr>
              <a:t>分本地</a:t>
            </a:r>
            <a:r>
              <a:rPr lang="en-US" altLang="zh-CN" sz="1200" dirty="0">
                <a:sym typeface="HarmonyOS Sans SC Light" panose="00000400000000000000" pitchFamily="2" charset="-122"/>
              </a:rPr>
              <a:t>/</a:t>
            </a:r>
            <a:r>
              <a:rPr lang="zh-CN" altLang="en-US" sz="1200" dirty="0">
                <a:sym typeface="HarmonyOS Sans SC Light" panose="00000400000000000000" pitchFamily="2" charset="-122"/>
              </a:rPr>
              <a:t>在线两种模式，管理系统登录的用户及分配权限</a:t>
            </a:r>
            <a:endParaRPr lang="zh-CN" altLang="en-US" sz="1200" dirty="0">
              <a:sym typeface="HarmonyOS Sans SC Light" panose="00000400000000000000" pitchFamily="2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6"/>
            </p:custDataLst>
          </p:nvPr>
        </p:nvSpPr>
        <p:spPr>
          <a:xfrm>
            <a:off x="427355" y="4628515"/>
            <a:ext cx="2976880" cy="63055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200" dirty="0">
                <a:sym typeface="HarmonyOS Sans SC Light" panose="00000400000000000000" pitchFamily="2" charset="-122"/>
              </a:rPr>
              <a:t>可按照时间、配方等筛选条件进行数据查询，查询数据可以分页</a:t>
            </a:r>
            <a:endParaRPr lang="zh-CN" altLang="en-US" sz="1200" dirty="0">
              <a:sym typeface="HarmonyOS Sans SC Light" panose="00000400000000000000" pitchFamily="2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7"/>
            </p:custDataLst>
          </p:nvPr>
        </p:nvSpPr>
        <p:spPr>
          <a:xfrm>
            <a:off x="8037195" y="3640455"/>
            <a:ext cx="33508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l"/>
            <a:r>
              <a:rPr lang="zh-CN" altLang="en-US" sz="1200" dirty="0">
                <a:sym typeface="HarmonyOS Sans SC Light" panose="00000400000000000000" pitchFamily="2" charset="-122"/>
              </a:rPr>
              <a:t>点位表</a:t>
            </a:r>
            <a:r>
              <a:rPr lang="en-US" altLang="zh-CN" sz="1200" dirty="0">
                <a:sym typeface="HarmonyOS Sans SC Light" panose="00000400000000000000" pitchFamily="2" charset="-122"/>
              </a:rPr>
              <a:t>(</a:t>
            </a:r>
            <a:r>
              <a:rPr lang="zh-CN" altLang="en-US" sz="1200" dirty="0">
                <a:sym typeface="HarmonyOS Sans SC Light" panose="00000400000000000000" pitchFamily="2" charset="-122"/>
              </a:rPr>
              <a:t>测试项目、条码、生产数据</a:t>
            </a:r>
            <a:r>
              <a:rPr lang="en-US" altLang="zh-CN" sz="1200" dirty="0">
                <a:sym typeface="HarmonyOS Sans SC Light" panose="00000400000000000000" pitchFamily="2" charset="-122"/>
              </a:rPr>
              <a:t>)</a:t>
            </a:r>
            <a:r>
              <a:rPr lang="zh-CN" altLang="en-US" sz="1200" dirty="0">
                <a:sym typeface="HarmonyOS Sans SC Light" panose="00000400000000000000" pitchFamily="2" charset="-122"/>
              </a:rPr>
              <a:t>、</a:t>
            </a:r>
            <a:r>
              <a:rPr lang="en-US" altLang="zh-CN" sz="1200" dirty="0">
                <a:sym typeface="HarmonyOS Sans SC Light" panose="00000400000000000000" pitchFamily="2" charset="-122"/>
              </a:rPr>
              <a:t>MES</a:t>
            </a:r>
            <a:r>
              <a:rPr lang="zh-CN" altLang="en-US" sz="1200" dirty="0">
                <a:sym typeface="HarmonyOS Sans SC Light" panose="00000400000000000000" pitchFamily="2" charset="-122"/>
              </a:rPr>
              <a:t>参数、电子看板、生产配方、打印参数</a:t>
            </a:r>
            <a:endParaRPr lang="zh-CN" altLang="en-US" sz="1200" dirty="0">
              <a:sym typeface="HarmonyOS Sans SC Light" panose="00000400000000000000" pitchFamily="2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8"/>
            </p:custDataLst>
          </p:nvPr>
        </p:nvSpPr>
        <p:spPr>
          <a:xfrm>
            <a:off x="8746490" y="4901565"/>
            <a:ext cx="2966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l"/>
            <a:r>
              <a:rPr lang="zh-CN" altLang="en-US" sz="1200" dirty="0">
                <a:sym typeface="HarmonyOS Sans SC Light" panose="00000400000000000000" pitchFamily="2" charset="-122"/>
              </a:rPr>
              <a:t>使用原生</a:t>
            </a:r>
            <a:r>
              <a:rPr lang="en-US" altLang="zh-CN" sz="1200" dirty="0">
                <a:sym typeface="HarmonyOS Sans SC Light" panose="00000400000000000000" pitchFamily="2" charset="-122"/>
              </a:rPr>
              <a:t>Chart</a:t>
            </a:r>
            <a:r>
              <a:rPr lang="zh-CN" altLang="en-US" sz="1200" dirty="0">
                <a:sym typeface="HarmonyOS Sans SC Light" panose="00000400000000000000" pitchFamily="2" charset="-122"/>
              </a:rPr>
              <a:t>控件展示良品率、良品数、不良品数数据</a:t>
            </a:r>
            <a:endParaRPr lang="zh-CN" altLang="en-US" sz="1200" dirty="0">
              <a:sym typeface="HarmonyOS Sans SC Light" panose="000004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任意多边形: 形状 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75" y="3088640"/>
            <a:ext cx="2962910" cy="2584450"/>
          </a:xfrm>
          <a:custGeom>
            <a:avLst/>
            <a:gdLst>
              <a:gd name="connsiteX0" fmla="*/ 1033354 w 2066711"/>
              <a:gd name="connsiteY0" fmla="*/ 0 h 2292895"/>
              <a:gd name="connsiteX1" fmla="*/ 1199115 w 2066711"/>
              <a:gd name="connsiteY1" fmla="*/ 129810 h 2292895"/>
              <a:gd name="connsiteX2" fmla="*/ 2066711 w 2066711"/>
              <a:gd name="connsiteY2" fmla="*/ 129810 h 2292895"/>
              <a:gd name="connsiteX3" fmla="*/ 2066711 w 2066711"/>
              <a:gd name="connsiteY3" fmla="*/ 2292895 h 2292895"/>
              <a:gd name="connsiteX4" fmla="*/ 0 w 2066711"/>
              <a:gd name="connsiteY4" fmla="*/ 2292895 h 2292895"/>
              <a:gd name="connsiteX5" fmla="*/ 0 w 2066711"/>
              <a:gd name="connsiteY5" fmla="*/ 129810 h 2292895"/>
              <a:gd name="connsiteX6" fmla="*/ 867593 w 2066711"/>
              <a:gd name="connsiteY6" fmla="*/ 129810 h 229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6711" h="2292895">
                <a:moveTo>
                  <a:pt x="1033354" y="0"/>
                </a:moveTo>
                <a:lnTo>
                  <a:pt x="1199115" y="129810"/>
                </a:lnTo>
                <a:lnTo>
                  <a:pt x="2066711" y="129810"/>
                </a:lnTo>
                <a:lnTo>
                  <a:pt x="2066711" y="2292895"/>
                </a:lnTo>
                <a:lnTo>
                  <a:pt x="0" y="2292895"/>
                </a:lnTo>
                <a:lnTo>
                  <a:pt x="0" y="129810"/>
                </a:lnTo>
                <a:lnTo>
                  <a:pt x="867593" y="12981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E3E7ED"/>
            </a:solidFill>
            <a:bevel/>
          </a:ln>
          <a:effectLst>
            <a:outerShdw blurRad="76200" dist="76200" dir="2700000" algn="tl" rotWithShape="0">
              <a:prstClr val="black">
                <a:alpha val="5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7" name="任意多边形: 形状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42325" y="3096260"/>
            <a:ext cx="2962910" cy="2584450"/>
          </a:xfrm>
          <a:custGeom>
            <a:avLst/>
            <a:gdLst>
              <a:gd name="connsiteX0" fmla="*/ 1033354 w 2066711"/>
              <a:gd name="connsiteY0" fmla="*/ 0 h 2292895"/>
              <a:gd name="connsiteX1" fmla="*/ 1199115 w 2066711"/>
              <a:gd name="connsiteY1" fmla="*/ 129810 h 2292895"/>
              <a:gd name="connsiteX2" fmla="*/ 2066711 w 2066711"/>
              <a:gd name="connsiteY2" fmla="*/ 129810 h 2292895"/>
              <a:gd name="connsiteX3" fmla="*/ 2066711 w 2066711"/>
              <a:gd name="connsiteY3" fmla="*/ 2292895 h 2292895"/>
              <a:gd name="connsiteX4" fmla="*/ 0 w 2066711"/>
              <a:gd name="connsiteY4" fmla="*/ 2292895 h 2292895"/>
              <a:gd name="connsiteX5" fmla="*/ 0 w 2066711"/>
              <a:gd name="connsiteY5" fmla="*/ 129810 h 2292895"/>
              <a:gd name="connsiteX6" fmla="*/ 867593 w 2066711"/>
              <a:gd name="connsiteY6" fmla="*/ 129810 h 229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6711" h="2292895">
                <a:moveTo>
                  <a:pt x="1033354" y="0"/>
                </a:moveTo>
                <a:lnTo>
                  <a:pt x="1199115" y="129810"/>
                </a:lnTo>
                <a:lnTo>
                  <a:pt x="2066711" y="129810"/>
                </a:lnTo>
                <a:lnTo>
                  <a:pt x="2066711" y="2292895"/>
                </a:lnTo>
                <a:lnTo>
                  <a:pt x="0" y="2292895"/>
                </a:lnTo>
                <a:lnTo>
                  <a:pt x="0" y="129810"/>
                </a:lnTo>
                <a:lnTo>
                  <a:pt x="867593" y="12981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E3E7ED"/>
            </a:solidFill>
            <a:bevel/>
          </a:ln>
          <a:effectLst>
            <a:outerShdw blurRad="76200" dist="76200" dir="2700000" algn="tl" rotWithShape="0">
              <a:prstClr val="black">
                <a:alpha val="5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2075932" y="1688087"/>
            <a:ext cx="1265620" cy="1265620"/>
          </a:xfrm>
          <a:prstGeom prst="ellipse">
            <a:avLst/>
          </a:pr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>
            <p:custDataLst>
              <p:tags r:id="rId4"/>
            </p:custDataLst>
          </p:nvPr>
        </p:nvSpPr>
        <p:spPr>
          <a:xfrm>
            <a:off x="9271995" y="1686182"/>
            <a:ext cx="1265620" cy="1265620"/>
          </a:xfrm>
          <a:prstGeom prst="ellipse">
            <a:avLst/>
          </a:prstGeom>
          <a:solidFill>
            <a:schemeClr val="bg1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832059" y="241926"/>
            <a:ext cx="2652457" cy="584775"/>
            <a:chOff x="2517807" y="2023841"/>
            <a:chExt cx="2652457" cy="584775"/>
          </a:xfrm>
        </p:grpSpPr>
        <p:sp>
          <p:nvSpPr>
            <p:cNvPr id="15" name="文本框 14"/>
            <p:cNvSpPr txBox="1"/>
            <p:nvPr/>
          </p:nvSpPr>
          <p:spPr>
            <a:xfrm>
              <a:off x="3200494" y="2114049"/>
              <a:ext cx="196977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D215E"/>
                  </a:solidFill>
                  <a:sym typeface="+mn-ea"/>
                </a:rPr>
                <a:t>项目框架及设计</a:t>
              </a:r>
              <a:endParaRPr lang="zh-CN" altLang="en-US" sz="2000" b="1" dirty="0">
                <a:solidFill>
                  <a:srgbClr val="0D215E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7807" y="2023841"/>
              <a:ext cx="6832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0D215E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rPr>
                <a:t>01</a:t>
              </a:r>
              <a:endParaRPr lang="zh-CN" altLang="en-US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5"/>
            </p:custDataLst>
          </p:nvPr>
        </p:nvGrpSpPr>
        <p:grpSpPr>
          <a:xfrm>
            <a:off x="1315085" y="3412490"/>
            <a:ext cx="2686051" cy="1275715"/>
            <a:chOff x="160728" y="1615789"/>
            <a:chExt cx="2856931" cy="1256143"/>
          </a:xfrm>
        </p:grpSpPr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264646" y="2236670"/>
              <a:ext cx="2753013" cy="6352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/>
              <a:r>
                <a:rPr lang="zh-CN" altLang="en-US" sz="1200" dirty="0">
                  <a:sym typeface="HarmonyOS Sans SC Light" panose="00000400000000000000" pitchFamily="2" charset="-122"/>
                </a:rPr>
                <a:t>功能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: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接收设备数据并保存到数据库</a:t>
              </a:r>
              <a:endParaRPr lang="zh-CN" altLang="en-US" sz="1200" dirty="0">
                <a:sym typeface="HarmonyOS Sans SC Light" panose="00000400000000000000" pitchFamily="2" charset="-122"/>
              </a:endParaRPr>
            </a:p>
            <a:p>
              <a:pPr algn="l"/>
              <a:r>
                <a:rPr lang="zh-CN" altLang="en-US" sz="1200" dirty="0">
                  <a:sym typeface="HarmonyOS Sans SC Light" panose="00000400000000000000" pitchFamily="2" charset="-122"/>
                </a:rPr>
                <a:t>开发技术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:Winform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、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MySQL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160728" y="1615789"/>
              <a:ext cx="2686110" cy="574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二、电子看板服务器</a:t>
              </a:r>
              <a:r>
                <a:rPr lang="en-US" altLang="zh-CN" dirty="0">
                  <a:sym typeface="HarmonyOS Sans SC Light" panose="00000400000000000000" pitchFamily="2" charset="-122"/>
                </a:rPr>
                <a:t>(GeneralFrameBoard)</a:t>
              </a:r>
              <a:endParaRPr lang="en-US" altLang="zh-CN" dirty="0">
                <a:sym typeface="HarmonyOS Sans SC Light" panose="00000400000000000000" pitchFamily="2" charset="-122"/>
              </a:endParaRPr>
            </a:p>
          </p:txBody>
        </p:sp>
      </p:grpSp>
      <p:pic>
        <p:nvPicPr>
          <p:cNvPr id="6" name="图形 5" descr="书籍 纯色填充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email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3312" y="1962052"/>
            <a:ext cx="781184" cy="781184"/>
          </a:xfrm>
          <a:prstGeom prst="rect">
            <a:avLst/>
          </a:prstGeom>
        </p:spPr>
      </p:pic>
      <p:sp>
        <p:nvSpPr>
          <p:cNvPr id="9" name="任意多边形: 形状 8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832350" y="3096260"/>
            <a:ext cx="2962910" cy="2584450"/>
          </a:xfrm>
          <a:custGeom>
            <a:avLst/>
            <a:gdLst>
              <a:gd name="connsiteX0" fmla="*/ 1033354 w 2066711"/>
              <a:gd name="connsiteY0" fmla="*/ 0 h 2292895"/>
              <a:gd name="connsiteX1" fmla="*/ 1199115 w 2066711"/>
              <a:gd name="connsiteY1" fmla="*/ 129810 h 2292895"/>
              <a:gd name="connsiteX2" fmla="*/ 2066711 w 2066711"/>
              <a:gd name="connsiteY2" fmla="*/ 129810 h 2292895"/>
              <a:gd name="connsiteX3" fmla="*/ 2066711 w 2066711"/>
              <a:gd name="connsiteY3" fmla="*/ 2292895 h 2292895"/>
              <a:gd name="connsiteX4" fmla="*/ 0 w 2066711"/>
              <a:gd name="connsiteY4" fmla="*/ 2292895 h 2292895"/>
              <a:gd name="connsiteX5" fmla="*/ 0 w 2066711"/>
              <a:gd name="connsiteY5" fmla="*/ 129810 h 2292895"/>
              <a:gd name="connsiteX6" fmla="*/ 867593 w 2066711"/>
              <a:gd name="connsiteY6" fmla="*/ 129810 h 229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6711" h="2292895">
                <a:moveTo>
                  <a:pt x="1033354" y="0"/>
                </a:moveTo>
                <a:lnTo>
                  <a:pt x="1199115" y="129810"/>
                </a:lnTo>
                <a:lnTo>
                  <a:pt x="2066711" y="129810"/>
                </a:lnTo>
                <a:lnTo>
                  <a:pt x="2066711" y="2292895"/>
                </a:lnTo>
                <a:lnTo>
                  <a:pt x="0" y="2292895"/>
                </a:lnTo>
                <a:lnTo>
                  <a:pt x="0" y="129810"/>
                </a:lnTo>
                <a:lnTo>
                  <a:pt x="867593" y="12981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E3E7ED"/>
            </a:solidFill>
            <a:bevel/>
          </a:ln>
          <a:effectLst>
            <a:outerShdw blurRad="76200" dist="76200" dir="2700000" algn="tl" rotWithShape="0">
              <a:prstClr val="black">
                <a:alpha val="5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椭圆 9"/>
          <p:cNvSpPr/>
          <p:nvPr>
            <p:custDataLst>
              <p:tags r:id="rId12"/>
            </p:custDataLst>
          </p:nvPr>
        </p:nvSpPr>
        <p:spPr>
          <a:xfrm>
            <a:off x="5673963" y="1686182"/>
            <a:ext cx="1265620" cy="1265620"/>
          </a:xfrm>
          <a:prstGeom prst="ellipse">
            <a:avLst/>
          </a:prstGeom>
          <a:solidFill>
            <a:srgbClr val="0D215E"/>
          </a:solidFill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图形 39" descr="D:\51PPT模板网\51pptmoban.com\图片.jpg"/>
          <p:cNvGrpSpPr/>
          <p:nvPr>
            <p:custDataLst>
              <p:tags r:id="rId13"/>
            </p:custDataLst>
          </p:nvPr>
        </p:nvGrpSpPr>
        <p:grpSpPr>
          <a:xfrm>
            <a:off x="6041164" y="2050209"/>
            <a:ext cx="553339" cy="553339"/>
            <a:chOff x="9575306" y="1913305"/>
            <a:chExt cx="544850" cy="544850"/>
          </a:xfrm>
          <a:solidFill>
            <a:schemeClr val="bg1"/>
          </a:solidFill>
        </p:grpSpPr>
        <p:sp>
          <p:nvSpPr>
            <p:cNvPr id="45" name="任意多边形: 形状 37"/>
            <p:cNvSpPr/>
            <p:nvPr>
              <p:custDataLst>
                <p:tags r:id="rId14"/>
              </p:custDataLst>
            </p:nvPr>
          </p:nvSpPr>
          <p:spPr>
            <a:xfrm>
              <a:off x="9671456" y="1913305"/>
              <a:ext cx="48075" cy="96150"/>
            </a:xfrm>
            <a:custGeom>
              <a:avLst/>
              <a:gdLst>
                <a:gd name="connsiteX0" fmla="*/ 24038 w 48075"/>
                <a:gd name="connsiteY0" fmla="*/ 96150 h 96150"/>
                <a:gd name="connsiteX1" fmla="*/ 48075 w 48075"/>
                <a:gd name="connsiteY1" fmla="*/ 72113 h 96150"/>
                <a:gd name="connsiteX2" fmla="*/ 48075 w 48075"/>
                <a:gd name="connsiteY2" fmla="*/ 24038 h 96150"/>
                <a:gd name="connsiteX3" fmla="*/ 24038 w 48075"/>
                <a:gd name="connsiteY3" fmla="*/ 0 h 96150"/>
                <a:gd name="connsiteX4" fmla="*/ 0 w 48075"/>
                <a:gd name="connsiteY4" fmla="*/ 24038 h 96150"/>
                <a:gd name="connsiteX5" fmla="*/ 0 w 48075"/>
                <a:gd name="connsiteY5" fmla="*/ 72113 h 96150"/>
                <a:gd name="connsiteX6" fmla="*/ 24038 w 48075"/>
                <a:gd name="connsiteY6" fmla="*/ 96150 h 9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75" h="96150">
                  <a:moveTo>
                    <a:pt x="24038" y="96150"/>
                  </a:moveTo>
                  <a:cubicBezTo>
                    <a:pt x="37659" y="96150"/>
                    <a:pt x="48075" y="85734"/>
                    <a:pt x="48075" y="72113"/>
                  </a:cubicBezTo>
                  <a:lnTo>
                    <a:pt x="48075" y="24038"/>
                  </a:lnTo>
                  <a:cubicBezTo>
                    <a:pt x="48075" y="10416"/>
                    <a:pt x="37659" y="0"/>
                    <a:pt x="24038" y="0"/>
                  </a:cubicBezTo>
                  <a:cubicBezTo>
                    <a:pt x="10416" y="0"/>
                    <a:pt x="0" y="10416"/>
                    <a:pt x="0" y="24038"/>
                  </a:cubicBezTo>
                  <a:lnTo>
                    <a:pt x="0" y="72113"/>
                  </a:lnTo>
                  <a:cubicBezTo>
                    <a:pt x="0" y="85734"/>
                    <a:pt x="10416" y="96150"/>
                    <a:pt x="24038" y="96150"/>
                  </a:cubicBezTo>
                  <a:close/>
                </a:path>
              </a:pathLst>
            </a:custGeom>
            <a:grpFill/>
            <a:ln w="7938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46" name="任意多边形: 形状 38"/>
            <p:cNvSpPr/>
            <p:nvPr>
              <p:custDataLst>
                <p:tags r:id="rId15"/>
              </p:custDataLst>
            </p:nvPr>
          </p:nvSpPr>
          <p:spPr>
            <a:xfrm>
              <a:off x="9575306" y="2105605"/>
              <a:ext cx="544850" cy="352550"/>
            </a:xfrm>
            <a:custGeom>
              <a:avLst/>
              <a:gdLst>
                <a:gd name="connsiteX0" fmla="*/ 48075 w 544850"/>
                <a:gd name="connsiteY0" fmla="*/ 240375 h 352550"/>
                <a:gd name="connsiteX1" fmla="*/ 176275 w 544850"/>
                <a:gd name="connsiteY1" fmla="*/ 240375 h 352550"/>
                <a:gd name="connsiteX2" fmla="*/ 176275 w 544850"/>
                <a:gd name="connsiteY2" fmla="*/ 304475 h 352550"/>
                <a:gd name="connsiteX3" fmla="*/ 48075 w 544850"/>
                <a:gd name="connsiteY3" fmla="*/ 304475 h 352550"/>
                <a:gd name="connsiteX4" fmla="*/ 48075 w 544850"/>
                <a:gd name="connsiteY4" fmla="*/ 240375 h 352550"/>
                <a:gd name="connsiteX5" fmla="*/ 48075 w 544850"/>
                <a:gd name="connsiteY5" fmla="*/ 144225 h 352550"/>
                <a:gd name="connsiteX6" fmla="*/ 176275 w 544850"/>
                <a:gd name="connsiteY6" fmla="*/ 144225 h 352550"/>
                <a:gd name="connsiteX7" fmla="*/ 176275 w 544850"/>
                <a:gd name="connsiteY7" fmla="*/ 208325 h 352550"/>
                <a:gd name="connsiteX8" fmla="*/ 48075 w 544850"/>
                <a:gd name="connsiteY8" fmla="*/ 208325 h 352550"/>
                <a:gd name="connsiteX9" fmla="*/ 48075 w 544850"/>
                <a:gd name="connsiteY9" fmla="*/ 144225 h 352550"/>
                <a:gd name="connsiteX10" fmla="*/ 48075 w 544850"/>
                <a:gd name="connsiteY10" fmla="*/ 48075 h 352550"/>
                <a:gd name="connsiteX11" fmla="*/ 176275 w 544850"/>
                <a:gd name="connsiteY11" fmla="*/ 48075 h 352550"/>
                <a:gd name="connsiteX12" fmla="*/ 176275 w 544850"/>
                <a:gd name="connsiteY12" fmla="*/ 112175 h 352550"/>
                <a:gd name="connsiteX13" fmla="*/ 48075 w 544850"/>
                <a:gd name="connsiteY13" fmla="*/ 112175 h 352550"/>
                <a:gd name="connsiteX14" fmla="*/ 48075 w 544850"/>
                <a:gd name="connsiteY14" fmla="*/ 48075 h 352550"/>
                <a:gd name="connsiteX15" fmla="*/ 336525 w 544850"/>
                <a:gd name="connsiteY15" fmla="*/ 48075 h 352550"/>
                <a:gd name="connsiteX16" fmla="*/ 336525 w 544850"/>
                <a:gd name="connsiteY16" fmla="*/ 112175 h 352550"/>
                <a:gd name="connsiteX17" fmla="*/ 208325 w 544850"/>
                <a:gd name="connsiteY17" fmla="*/ 112175 h 352550"/>
                <a:gd name="connsiteX18" fmla="*/ 208325 w 544850"/>
                <a:gd name="connsiteY18" fmla="*/ 48075 h 352550"/>
                <a:gd name="connsiteX19" fmla="*/ 336525 w 544850"/>
                <a:gd name="connsiteY19" fmla="*/ 48075 h 352550"/>
                <a:gd name="connsiteX20" fmla="*/ 496775 w 544850"/>
                <a:gd name="connsiteY20" fmla="*/ 48075 h 352550"/>
                <a:gd name="connsiteX21" fmla="*/ 496775 w 544850"/>
                <a:gd name="connsiteY21" fmla="*/ 112175 h 352550"/>
                <a:gd name="connsiteX22" fmla="*/ 368575 w 544850"/>
                <a:gd name="connsiteY22" fmla="*/ 112175 h 352550"/>
                <a:gd name="connsiteX23" fmla="*/ 368575 w 544850"/>
                <a:gd name="connsiteY23" fmla="*/ 48075 h 352550"/>
                <a:gd name="connsiteX24" fmla="*/ 496775 w 544850"/>
                <a:gd name="connsiteY24" fmla="*/ 48075 h 352550"/>
                <a:gd name="connsiteX25" fmla="*/ 496775 w 544850"/>
                <a:gd name="connsiteY25" fmla="*/ 208325 h 352550"/>
                <a:gd name="connsiteX26" fmla="*/ 368575 w 544850"/>
                <a:gd name="connsiteY26" fmla="*/ 208325 h 352550"/>
                <a:gd name="connsiteX27" fmla="*/ 368575 w 544850"/>
                <a:gd name="connsiteY27" fmla="*/ 144225 h 352550"/>
                <a:gd name="connsiteX28" fmla="*/ 496775 w 544850"/>
                <a:gd name="connsiteY28" fmla="*/ 144225 h 352550"/>
                <a:gd name="connsiteX29" fmla="*/ 496775 w 544850"/>
                <a:gd name="connsiteY29" fmla="*/ 208325 h 352550"/>
                <a:gd name="connsiteX30" fmla="*/ 496775 w 544850"/>
                <a:gd name="connsiteY30" fmla="*/ 304475 h 352550"/>
                <a:gd name="connsiteX31" fmla="*/ 368575 w 544850"/>
                <a:gd name="connsiteY31" fmla="*/ 304475 h 352550"/>
                <a:gd name="connsiteX32" fmla="*/ 368575 w 544850"/>
                <a:gd name="connsiteY32" fmla="*/ 240375 h 352550"/>
                <a:gd name="connsiteX33" fmla="*/ 496775 w 544850"/>
                <a:gd name="connsiteY33" fmla="*/ 240375 h 352550"/>
                <a:gd name="connsiteX34" fmla="*/ 496775 w 544850"/>
                <a:gd name="connsiteY34" fmla="*/ 304475 h 352550"/>
                <a:gd name="connsiteX35" fmla="*/ 208325 w 544850"/>
                <a:gd name="connsiteY35" fmla="*/ 208325 h 352550"/>
                <a:gd name="connsiteX36" fmla="*/ 208325 w 544850"/>
                <a:gd name="connsiteY36" fmla="*/ 144225 h 352550"/>
                <a:gd name="connsiteX37" fmla="*/ 336525 w 544850"/>
                <a:gd name="connsiteY37" fmla="*/ 144225 h 352550"/>
                <a:gd name="connsiteX38" fmla="*/ 336525 w 544850"/>
                <a:gd name="connsiteY38" fmla="*/ 208325 h 352550"/>
                <a:gd name="connsiteX39" fmla="*/ 208325 w 544850"/>
                <a:gd name="connsiteY39" fmla="*/ 208325 h 352550"/>
                <a:gd name="connsiteX40" fmla="*/ 208325 w 544850"/>
                <a:gd name="connsiteY40" fmla="*/ 304475 h 352550"/>
                <a:gd name="connsiteX41" fmla="*/ 208325 w 544850"/>
                <a:gd name="connsiteY41" fmla="*/ 240375 h 352550"/>
                <a:gd name="connsiteX42" fmla="*/ 336525 w 544850"/>
                <a:gd name="connsiteY42" fmla="*/ 240375 h 352550"/>
                <a:gd name="connsiteX43" fmla="*/ 336525 w 544850"/>
                <a:gd name="connsiteY43" fmla="*/ 304475 h 352550"/>
                <a:gd name="connsiteX44" fmla="*/ 208325 w 544850"/>
                <a:gd name="connsiteY44" fmla="*/ 304475 h 352550"/>
                <a:gd name="connsiteX45" fmla="*/ 0 w 544850"/>
                <a:gd name="connsiteY45" fmla="*/ 352550 h 352550"/>
                <a:gd name="connsiteX46" fmla="*/ 544850 w 544850"/>
                <a:gd name="connsiteY46" fmla="*/ 352550 h 352550"/>
                <a:gd name="connsiteX47" fmla="*/ 544850 w 544850"/>
                <a:gd name="connsiteY47" fmla="*/ 0 h 352550"/>
                <a:gd name="connsiteX48" fmla="*/ 0 w 544850"/>
                <a:gd name="connsiteY48" fmla="*/ 0 h 352550"/>
                <a:gd name="connsiteX49" fmla="*/ 0 w 544850"/>
                <a:gd name="connsiteY49" fmla="*/ 352550 h 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44850" h="352550">
                  <a:moveTo>
                    <a:pt x="48075" y="240375"/>
                  </a:moveTo>
                  <a:lnTo>
                    <a:pt x="176275" y="240375"/>
                  </a:lnTo>
                  <a:lnTo>
                    <a:pt x="176275" y="304475"/>
                  </a:lnTo>
                  <a:lnTo>
                    <a:pt x="48075" y="304475"/>
                  </a:lnTo>
                  <a:lnTo>
                    <a:pt x="48075" y="240375"/>
                  </a:lnTo>
                  <a:close/>
                  <a:moveTo>
                    <a:pt x="48075" y="144225"/>
                  </a:moveTo>
                  <a:lnTo>
                    <a:pt x="176275" y="144225"/>
                  </a:lnTo>
                  <a:lnTo>
                    <a:pt x="176275" y="208325"/>
                  </a:lnTo>
                  <a:lnTo>
                    <a:pt x="48075" y="208325"/>
                  </a:lnTo>
                  <a:lnTo>
                    <a:pt x="48075" y="144225"/>
                  </a:lnTo>
                  <a:close/>
                  <a:moveTo>
                    <a:pt x="48075" y="48075"/>
                  </a:moveTo>
                  <a:lnTo>
                    <a:pt x="176275" y="48075"/>
                  </a:lnTo>
                  <a:lnTo>
                    <a:pt x="176275" y="112175"/>
                  </a:lnTo>
                  <a:lnTo>
                    <a:pt x="48075" y="112175"/>
                  </a:lnTo>
                  <a:lnTo>
                    <a:pt x="48075" y="48075"/>
                  </a:lnTo>
                  <a:close/>
                  <a:moveTo>
                    <a:pt x="336525" y="48075"/>
                  </a:moveTo>
                  <a:lnTo>
                    <a:pt x="336525" y="112175"/>
                  </a:lnTo>
                  <a:lnTo>
                    <a:pt x="208325" y="112175"/>
                  </a:lnTo>
                  <a:lnTo>
                    <a:pt x="208325" y="48075"/>
                  </a:lnTo>
                  <a:lnTo>
                    <a:pt x="336525" y="48075"/>
                  </a:lnTo>
                  <a:close/>
                  <a:moveTo>
                    <a:pt x="496775" y="48075"/>
                  </a:moveTo>
                  <a:lnTo>
                    <a:pt x="496775" y="112175"/>
                  </a:lnTo>
                  <a:lnTo>
                    <a:pt x="368575" y="112175"/>
                  </a:lnTo>
                  <a:lnTo>
                    <a:pt x="368575" y="48075"/>
                  </a:lnTo>
                  <a:lnTo>
                    <a:pt x="496775" y="48075"/>
                  </a:lnTo>
                  <a:close/>
                  <a:moveTo>
                    <a:pt x="496775" y="208325"/>
                  </a:moveTo>
                  <a:lnTo>
                    <a:pt x="368575" y="208325"/>
                  </a:lnTo>
                  <a:lnTo>
                    <a:pt x="368575" y="144225"/>
                  </a:lnTo>
                  <a:lnTo>
                    <a:pt x="496775" y="144225"/>
                  </a:lnTo>
                  <a:lnTo>
                    <a:pt x="496775" y="208325"/>
                  </a:lnTo>
                  <a:close/>
                  <a:moveTo>
                    <a:pt x="496775" y="304475"/>
                  </a:moveTo>
                  <a:lnTo>
                    <a:pt x="368575" y="304475"/>
                  </a:lnTo>
                  <a:lnTo>
                    <a:pt x="368575" y="240375"/>
                  </a:lnTo>
                  <a:lnTo>
                    <a:pt x="496775" y="240375"/>
                  </a:lnTo>
                  <a:lnTo>
                    <a:pt x="496775" y="304475"/>
                  </a:lnTo>
                  <a:close/>
                  <a:moveTo>
                    <a:pt x="208325" y="208325"/>
                  </a:moveTo>
                  <a:lnTo>
                    <a:pt x="208325" y="144225"/>
                  </a:lnTo>
                  <a:lnTo>
                    <a:pt x="336525" y="144225"/>
                  </a:lnTo>
                  <a:lnTo>
                    <a:pt x="336525" y="208325"/>
                  </a:lnTo>
                  <a:lnTo>
                    <a:pt x="208325" y="208325"/>
                  </a:lnTo>
                  <a:close/>
                  <a:moveTo>
                    <a:pt x="208325" y="304475"/>
                  </a:moveTo>
                  <a:lnTo>
                    <a:pt x="208325" y="240375"/>
                  </a:lnTo>
                  <a:lnTo>
                    <a:pt x="336525" y="240375"/>
                  </a:lnTo>
                  <a:lnTo>
                    <a:pt x="336525" y="304475"/>
                  </a:lnTo>
                  <a:lnTo>
                    <a:pt x="208325" y="304475"/>
                  </a:lnTo>
                  <a:close/>
                  <a:moveTo>
                    <a:pt x="0" y="352550"/>
                  </a:moveTo>
                  <a:lnTo>
                    <a:pt x="544850" y="352550"/>
                  </a:lnTo>
                  <a:lnTo>
                    <a:pt x="544850" y="0"/>
                  </a:lnTo>
                  <a:lnTo>
                    <a:pt x="0" y="0"/>
                  </a:lnTo>
                  <a:lnTo>
                    <a:pt x="0" y="352550"/>
                  </a:lnTo>
                  <a:close/>
                </a:path>
              </a:pathLst>
            </a:custGeom>
            <a:grpFill/>
            <a:ln w="7938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47" name="任意多边形: 形状 39"/>
            <p:cNvSpPr/>
            <p:nvPr>
              <p:custDataLst>
                <p:tags r:id="rId16"/>
              </p:custDataLst>
            </p:nvPr>
          </p:nvSpPr>
          <p:spPr>
            <a:xfrm>
              <a:off x="9975931" y="1913305"/>
              <a:ext cx="48075" cy="96150"/>
            </a:xfrm>
            <a:custGeom>
              <a:avLst/>
              <a:gdLst>
                <a:gd name="connsiteX0" fmla="*/ 24038 w 48075"/>
                <a:gd name="connsiteY0" fmla="*/ 96150 h 96150"/>
                <a:gd name="connsiteX1" fmla="*/ 48075 w 48075"/>
                <a:gd name="connsiteY1" fmla="*/ 72113 h 96150"/>
                <a:gd name="connsiteX2" fmla="*/ 48075 w 48075"/>
                <a:gd name="connsiteY2" fmla="*/ 24038 h 96150"/>
                <a:gd name="connsiteX3" fmla="*/ 24038 w 48075"/>
                <a:gd name="connsiteY3" fmla="*/ 0 h 96150"/>
                <a:gd name="connsiteX4" fmla="*/ 0 w 48075"/>
                <a:gd name="connsiteY4" fmla="*/ 24038 h 96150"/>
                <a:gd name="connsiteX5" fmla="*/ 0 w 48075"/>
                <a:gd name="connsiteY5" fmla="*/ 72113 h 96150"/>
                <a:gd name="connsiteX6" fmla="*/ 24038 w 48075"/>
                <a:gd name="connsiteY6" fmla="*/ 96150 h 9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75" h="96150">
                  <a:moveTo>
                    <a:pt x="24038" y="96150"/>
                  </a:moveTo>
                  <a:cubicBezTo>
                    <a:pt x="37659" y="96150"/>
                    <a:pt x="48075" y="85734"/>
                    <a:pt x="48075" y="72113"/>
                  </a:cubicBezTo>
                  <a:lnTo>
                    <a:pt x="48075" y="24038"/>
                  </a:lnTo>
                  <a:cubicBezTo>
                    <a:pt x="48075" y="10416"/>
                    <a:pt x="37659" y="0"/>
                    <a:pt x="24038" y="0"/>
                  </a:cubicBezTo>
                  <a:cubicBezTo>
                    <a:pt x="10416" y="0"/>
                    <a:pt x="0" y="10416"/>
                    <a:pt x="0" y="24038"/>
                  </a:cubicBezTo>
                  <a:lnTo>
                    <a:pt x="0" y="72113"/>
                  </a:lnTo>
                  <a:cubicBezTo>
                    <a:pt x="0" y="85734"/>
                    <a:pt x="10416" y="96150"/>
                    <a:pt x="24038" y="96150"/>
                  </a:cubicBezTo>
                  <a:close/>
                </a:path>
              </a:pathLst>
            </a:custGeom>
            <a:grpFill/>
            <a:ln w="7938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48" name="任意多边形: 形状 40"/>
            <p:cNvSpPr/>
            <p:nvPr>
              <p:custDataLst>
                <p:tags r:id="rId17"/>
              </p:custDataLst>
            </p:nvPr>
          </p:nvSpPr>
          <p:spPr>
            <a:xfrm>
              <a:off x="9575306" y="1961380"/>
              <a:ext cx="544850" cy="112175"/>
            </a:xfrm>
            <a:custGeom>
              <a:avLst/>
              <a:gdLst>
                <a:gd name="connsiteX0" fmla="*/ 480750 w 544850"/>
                <a:gd name="connsiteY0" fmla="*/ 0 h 112175"/>
                <a:gd name="connsiteX1" fmla="*/ 480750 w 544850"/>
                <a:gd name="connsiteY1" fmla="*/ 24038 h 112175"/>
                <a:gd name="connsiteX2" fmla="*/ 424663 w 544850"/>
                <a:gd name="connsiteY2" fmla="*/ 80125 h 112175"/>
                <a:gd name="connsiteX3" fmla="*/ 368575 w 544850"/>
                <a:gd name="connsiteY3" fmla="*/ 24038 h 112175"/>
                <a:gd name="connsiteX4" fmla="*/ 368575 w 544850"/>
                <a:gd name="connsiteY4" fmla="*/ 0 h 112175"/>
                <a:gd name="connsiteX5" fmla="*/ 176275 w 544850"/>
                <a:gd name="connsiteY5" fmla="*/ 0 h 112175"/>
                <a:gd name="connsiteX6" fmla="*/ 176275 w 544850"/>
                <a:gd name="connsiteY6" fmla="*/ 24038 h 112175"/>
                <a:gd name="connsiteX7" fmla="*/ 120188 w 544850"/>
                <a:gd name="connsiteY7" fmla="*/ 80125 h 112175"/>
                <a:gd name="connsiteX8" fmla="*/ 64100 w 544850"/>
                <a:gd name="connsiteY8" fmla="*/ 24038 h 112175"/>
                <a:gd name="connsiteX9" fmla="*/ 64100 w 544850"/>
                <a:gd name="connsiteY9" fmla="*/ 0 h 112175"/>
                <a:gd name="connsiteX10" fmla="*/ 0 w 544850"/>
                <a:gd name="connsiteY10" fmla="*/ 0 h 112175"/>
                <a:gd name="connsiteX11" fmla="*/ 0 w 544850"/>
                <a:gd name="connsiteY11" fmla="*/ 112175 h 112175"/>
                <a:gd name="connsiteX12" fmla="*/ 544850 w 544850"/>
                <a:gd name="connsiteY12" fmla="*/ 112175 h 112175"/>
                <a:gd name="connsiteX13" fmla="*/ 544850 w 544850"/>
                <a:gd name="connsiteY13" fmla="*/ 0 h 112175"/>
                <a:gd name="connsiteX14" fmla="*/ 480750 w 544850"/>
                <a:gd name="connsiteY14" fmla="*/ 0 h 11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44850" h="112175">
                  <a:moveTo>
                    <a:pt x="480750" y="0"/>
                  </a:moveTo>
                  <a:lnTo>
                    <a:pt x="480750" y="24038"/>
                  </a:lnTo>
                  <a:cubicBezTo>
                    <a:pt x="480750" y="55286"/>
                    <a:pt x="455911" y="80125"/>
                    <a:pt x="424663" y="80125"/>
                  </a:cubicBezTo>
                  <a:cubicBezTo>
                    <a:pt x="393414" y="80125"/>
                    <a:pt x="368575" y="55286"/>
                    <a:pt x="368575" y="24038"/>
                  </a:cubicBezTo>
                  <a:lnTo>
                    <a:pt x="368575" y="0"/>
                  </a:lnTo>
                  <a:lnTo>
                    <a:pt x="176275" y="0"/>
                  </a:lnTo>
                  <a:lnTo>
                    <a:pt x="176275" y="24038"/>
                  </a:lnTo>
                  <a:cubicBezTo>
                    <a:pt x="176275" y="55286"/>
                    <a:pt x="151436" y="80125"/>
                    <a:pt x="120188" y="80125"/>
                  </a:cubicBezTo>
                  <a:cubicBezTo>
                    <a:pt x="88939" y="80125"/>
                    <a:pt x="64100" y="55286"/>
                    <a:pt x="64100" y="24038"/>
                  </a:cubicBezTo>
                  <a:lnTo>
                    <a:pt x="64100" y="0"/>
                  </a:lnTo>
                  <a:lnTo>
                    <a:pt x="0" y="0"/>
                  </a:lnTo>
                  <a:lnTo>
                    <a:pt x="0" y="112175"/>
                  </a:lnTo>
                  <a:lnTo>
                    <a:pt x="544850" y="112175"/>
                  </a:lnTo>
                  <a:lnTo>
                    <a:pt x="544850" y="0"/>
                  </a:lnTo>
                  <a:lnTo>
                    <a:pt x="480750" y="0"/>
                  </a:lnTo>
                  <a:close/>
                </a:path>
              </a:pathLst>
            </a:custGeom>
            <a:grpFill/>
            <a:ln w="7938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</p:grpSp>
      <p:sp>
        <p:nvSpPr>
          <p:cNvPr id="49" name="Freeform 339"/>
          <p:cNvSpPr/>
          <p:nvPr>
            <p:custDataLst>
              <p:tags r:id="rId18"/>
            </p:custDataLst>
          </p:nvPr>
        </p:nvSpPr>
        <p:spPr bwMode="auto">
          <a:xfrm>
            <a:off x="9629492" y="2030166"/>
            <a:ext cx="550739" cy="573310"/>
          </a:xfrm>
          <a:custGeom>
            <a:avLst/>
            <a:gdLst>
              <a:gd name="T0" fmla="*/ 0 w 59"/>
              <a:gd name="T1" fmla="*/ 21 h 73"/>
              <a:gd name="T2" fmla="*/ 48 w 59"/>
              <a:gd name="T3" fmla="*/ 0 h 73"/>
              <a:gd name="T4" fmla="*/ 59 w 59"/>
              <a:gd name="T5" fmla="*/ 25 h 73"/>
              <a:gd name="T6" fmla="*/ 18 w 59"/>
              <a:gd name="T7" fmla="*/ 42 h 73"/>
              <a:gd name="T8" fmla="*/ 30 w 59"/>
              <a:gd name="T9" fmla="*/ 70 h 73"/>
              <a:gd name="T10" fmla="*/ 23 w 59"/>
              <a:gd name="T11" fmla="*/ 73 h 73"/>
              <a:gd name="T12" fmla="*/ 0 w 59"/>
              <a:gd name="T13" fmla="*/ 21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" h="73">
                <a:moveTo>
                  <a:pt x="0" y="21"/>
                </a:moveTo>
                <a:cubicBezTo>
                  <a:pt x="2" y="10"/>
                  <a:pt x="42" y="13"/>
                  <a:pt x="48" y="0"/>
                </a:cubicBezTo>
                <a:cubicBezTo>
                  <a:pt x="52" y="8"/>
                  <a:pt x="55" y="16"/>
                  <a:pt x="59" y="25"/>
                </a:cubicBezTo>
                <a:cubicBezTo>
                  <a:pt x="47" y="40"/>
                  <a:pt x="29" y="33"/>
                  <a:pt x="18" y="42"/>
                </a:cubicBezTo>
                <a:cubicBezTo>
                  <a:pt x="30" y="70"/>
                  <a:pt x="30" y="70"/>
                  <a:pt x="30" y="70"/>
                </a:cubicBezTo>
                <a:cubicBezTo>
                  <a:pt x="23" y="73"/>
                  <a:pt x="23" y="73"/>
                  <a:pt x="23" y="73"/>
                </a:cubicBezTo>
                <a:lnTo>
                  <a:pt x="0" y="21"/>
                </a:lnTo>
                <a:close/>
              </a:path>
            </a:pathLst>
          </a:custGeom>
          <a:solidFill>
            <a:srgbClr val="0D215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grpSp>
        <p:nvGrpSpPr>
          <p:cNvPr id="50" name="组合 49"/>
          <p:cNvGrpSpPr/>
          <p:nvPr>
            <p:custDataLst>
              <p:tags r:id="rId19"/>
            </p:custDataLst>
          </p:nvPr>
        </p:nvGrpSpPr>
        <p:grpSpPr>
          <a:xfrm>
            <a:off x="4775199" y="3412490"/>
            <a:ext cx="3020061" cy="2127250"/>
            <a:chOff x="-208715" y="1606410"/>
            <a:chExt cx="3212190" cy="2094613"/>
          </a:xfrm>
        </p:grpSpPr>
        <p:sp>
          <p:nvSpPr>
            <p:cNvPr id="51" name="文本框 50"/>
            <p:cNvSpPr txBox="1"/>
            <p:nvPr>
              <p:custDataLst>
                <p:tags r:id="rId20"/>
              </p:custDataLst>
            </p:nvPr>
          </p:nvSpPr>
          <p:spPr>
            <a:xfrm>
              <a:off x="-75661" y="2247299"/>
              <a:ext cx="3079136" cy="14537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/>
              <a:r>
                <a:rPr lang="zh-CN" altLang="en-US" sz="1200" dirty="0">
                  <a:sym typeface="HarmonyOS Sans SC Light" panose="00000400000000000000" pitchFamily="2" charset="-122"/>
                </a:rPr>
                <a:t>功能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: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展示数据</a:t>
              </a:r>
              <a:endParaRPr lang="zh-CN" altLang="en-US" sz="1200" dirty="0">
                <a:sym typeface="HarmonyOS Sans SC Light" panose="00000400000000000000" pitchFamily="2" charset="-122"/>
              </a:endParaRPr>
            </a:p>
            <a:p>
              <a:pPr algn="l"/>
              <a:r>
                <a:rPr lang="zh-CN" altLang="en-US" sz="1200" dirty="0">
                  <a:sym typeface="HarmonyOS Sans SC Light" panose="00000400000000000000" pitchFamily="2" charset="-122"/>
                </a:rPr>
                <a:t>开发技术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: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  <a:p>
              <a:pPr indent="457200" algn="l"/>
              <a:r>
                <a:rPr lang="en-US" altLang="zh-CN" sz="1200" dirty="0">
                  <a:sym typeface="HarmonyOS Sans SC Light" panose="00000400000000000000" pitchFamily="2" charset="-122"/>
                </a:rPr>
                <a:t>C/S:WPF(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选用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√)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  <a:p>
              <a:pPr indent="457200" algn="l"/>
              <a:r>
                <a:rPr lang="en-US" altLang="zh-CN" sz="1200" dirty="0">
                  <a:sym typeface="HarmonyOS Sans SC Light" panose="00000400000000000000" pitchFamily="2" charset="-122"/>
                </a:rPr>
                <a:t>B/S: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前端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 + ASP .NET Core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  <a:p>
              <a:pPr indent="457200" algn="l"/>
              <a:r>
                <a:rPr lang="en-US" altLang="zh-CN" sz="1200" dirty="0">
                  <a:sym typeface="HarmonyOS Sans SC Light" panose="00000400000000000000" pitchFamily="2" charset="-122"/>
                </a:rPr>
                <a:t>MySQL(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与电子看板服务器共用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)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21"/>
              </p:custDataLst>
            </p:nvPr>
          </p:nvSpPr>
          <p:spPr>
            <a:xfrm>
              <a:off x="-208715" y="1606410"/>
              <a:ext cx="3074408" cy="574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ym typeface="HarmonyOS Sans SC Light" panose="00000400000000000000" pitchFamily="2" charset="-122"/>
                </a:rPr>
                <a:t>三、电子看板</a:t>
              </a:r>
              <a:r>
                <a:rPr lang="en-US" altLang="zh-CN" dirty="0">
                  <a:sym typeface="HarmonyOS Sans SC Light" panose="00000400000000000000" pitchFamily="2" charset="-122"/>
                </a:rPr>
                <a:t>/</a:t>
              </a:r>
              <a:r>
                <a:rPr lang="zh-CN" altLang="en-US" dirty="0">
                  <a:sym typeface="HarmonyOS Sans SC Light" panose="00000400000000000000" pitchFamily="2" charset="-122"/>
                </a:rPr>
                <a:t>数据大屏</a:t>
              </a:r>
              <a:r>
                <a:rPr lang="en-US" altLang="zh-CN" dirty="0">
                  <a:sym typeface="HarmonyOS Sans SC Light" panose="00000400000000000000" pitchFamily="2" charset="-122"/>
                </a:rPr>
                <a:t>(GeneralBoardServer)</a:t>
              </a:r>
              <a:endParaRPr lang="en-US" altLang="zh-CN" dirty="0"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22"/>
            </p:custDataLst>
          </p:nvPr>
        </p:nvGrpSpPr>
        <p:grpSpPr>
          <a:xfrm>
            <a:off x="8600440" y="3412490"/>
            <a:ext cx="2682152" cy="1552575"/>
            <a:chOff x="340384" y="1615789"/>
            <a:chExt cx="2852784" cy="1528755"/>
          </a:xfrm>
        </p:grpSpPr>
        <p:sp>
          <p:nvSpPr>
            <p:cNvPr id="54" name="文本框 53"/>
            <p:cNvSpPr txBox="1"/>
            <p:nvPr>
              <p:custDataLst>
                <p:tags r:id="rId23"/>
              </p:custDataLst>
            </p:nvPr>
          </p:nvSpPr>
          <p:spPr>
            <a:xfrm>
              <a:off x="367981" y="2236670"/>
              <a:ext cx="2825187" cy="9078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/>
              <a:r>
                <a:rPr lang="zh-CN" altLang="en-US" sz="1200" dirty="0">
                  <a:sym typeface="HarmonyOS Sans SC Light" panose="00000400000000000000" pitchFamily="2" charset="-122"/>
                </a:rPr>
                <a:t>功能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: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提供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API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访问接口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(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用户登录验证、条码验证、生产数据上传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)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  <a:p>
              <a:pPr algn="l"/>
              <a:r>
                <a:rPr lang="zh-CN" altLang="en-US" sz="1200" dirty="0">
                  <a:sym typeface="HarmonyOS Sans SC Light" panose="00000400000000000000" pitchFamily="2" charset="-122"/>
                </a:rPr>
                <a:t>开发技术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:.NET Core WebAPI</a:t>
              </a:r>
              <a:r>
                <a:rPr lang="zh-CN" altLang="en-US" sz="1200" dirty="0">
                  <a:sym typeface="HarmonyOS Sans SC Light" panose="00000400000000000000" pitchFamily="2" charset="-122"/>
                </a:rPr>
                <a:t>、</a:t>
              </a:r>
              <a:r>
                <a:rPr lang="en-US" altLang="zh-CN" sz="1200" dirty="0">
                  <a:sym typeface="HarmonyOS Sans SC Light" panose="00000400000000000000" pitchFamily="2" charset="-122"/>
                </a:rPr>
                <a:t>MySQL</a:t>
              </a:r>
              <a:endParaRPr lang="en-US" altLang="zh-CN" sz="1200" dirty="0">
                <a:sym typeface="HarmonyOS Sans SC Light" panose="00000400000000000000" pitchFamily="2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340384" y="1615789"/>
              <a:ext cx="2686110" cy="574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sym typeface="HarmonyOS Sans SC Light" panose="00000400000000000000" pitchFamily="2" charset="-122"/>
                </a:rPr>
                <a:t> </a:t>
              </a:r>
              <a:r>
                <a:rPr lang="zh-CN" altLang="en-US" dirty="0">
                  <a:sym typeface="HarmonyOS Sans SC Light" panose="00000400000000000000" pitchFamily="2" charset="-122"/>
                </a:rPr>
                <a:t>四、</a:t>
              </a:r>
              <a:r>
                <a:rPr lang="en-US" altLang="zh-CN" dirty="0">
                  <a:sym typeface="HarmonyOS Sans SC Light" panose="00000400000000000000" pitchFamily="2" charset="-122"/>
                </a:rPr>
                <a:t>MES</a:t>
              </a:r>
              <a:r>
                <a:rPr lang="zh-CN" altLang="en-US" dirty="0">
                  <a:sym typeface="HarmonyOS Sans SC Light" panose="00000400000000000000" pitchFamily="2" charset="-122"/>
                </a:rPr>
                <a:t>系统</a:t>
              </a:r>
              <a:r>
                <a:rPr lang="en-US" altLang="zh-CN" dirty="0">
                  <a:sym typeface="HarmonyOS Sans SC Light" panose="00000400000000000000" pitchFamily="2" charset="-122"/>
                </a:rPr>
                <a:t>(GeneralFrameMES)</a:t>
              </a:r>
              <a:endParaRPr lang="en-US" altLang="zh-CN" dirty="0"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832059" y="241926"/>
            <a:ext cx="1967292" cy="584775"/>
            <a:chOff x="2517807" y="2023841"/>
            <a:chExt cx="1967292" cy="584775"/>
          </a:xfrm>
        </p:grpSpPr>
        <p:sp>
          <p:nvSpPr>
            <p:cNvPr id="15" name="文本框 14"/>
            <p:cNvSpPr txBox="1"/>
            <p:nvPr/>
          </p:nvSpPr>
          <p:spPr>
            <a:xfrm>
              <a:off x="3536409" y="2114049"/>
              <a:ext cx="94869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D215E"/>
                  </a:solidFill>
                </a:rPr>
                <a:t>效果图</a:t>
              </a:r>
              <a:endParaRPr lang="zh-CN" altLang="en-US" sz="2000" b="1" dirty="0">
                <a:solidFill>
                  <a:srgbClr val="0D215E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7807" y="2023841"/>
              <a:ext cx="7296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0D215E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rPr>
                <a:t>02</a:t>
              </a:r>
              <a:endParaRPr lang="zh-CN" altLang="en-US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358265" y="9156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>
                <a:sym typeface="+mn-ea"/>
              </a:rPr>
              <a:t>一、</a:t>
            </a:r>
            <a:r>
              <a:rPr lang="en-US" altLang="zh-CN" sz="2400">
                <a:sym typeface="+mn-ea"/>
              </a:rPr>
              <a:t>SCADA</a:t>
            </a:r>
            <a:r>
              <a:rPr lang="zh-CN" altLang="en-US" sz="2400">
                <a:sym typeface="+mn-ea"/>
              </a:rPr>
              <a:t>系统</a:t>
            </a:r>
            <a:r>
              <a:rPr lang="en-US" altLang="zh-CN" sz="2400">
                <a:sym typeface="+mn-ea"/>
              </a:rPr>
              <a:t>(GeneralFrameSystem):</a:t>
            </a:r>
            <a:endParaRPr lang="en-US" altLang="zh-CN" sz="2400">
              <a:sym typeface="+mn-ea"/>
            </a:endParaRPr>
          </a:p>
        </p:txBody>
      </p:sp>
      <p:pic>
        <p:nvPicPr>
          <p:cNvPr id="3" name="图片 2" descr="屏幕截图 2025-02-26 1058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95" y="2288540"/>
            <a:ext cx="3775075" cy="2281555"/>
          </a:xfrm>
          <a:prstGeom prst="rect">
            <a:avLst/>
          </a:prstGeom>
        </p:spPr>
      </p:pic>
      <p:pic>
        <p:nvPicPr>
          <p:cNvPr id="4" name="图片 3" descr="屏幕截图 2025-02-26 1116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45" y="1788795"/>
            <a:ext cx="6170930" cy="3274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832059" y="241926"/>
            <a:ext cx="1967292" cy="584775"/>
            <a:chOff x="2517807" y="2023841"/>
            <a:chExt cx="1967292" cy="584775"/>
          </a:xfrm>
        </p:grpSpPr>
        <p:sp>
          <p:nvSpPr>
            <p:cNvPr id="15" name="文本框 14"/>
            <p:cNvSpPr txBox="1"/>
            <p:nvPr/>
          </p:nvSpPr>
          <p:spPr>
            <a:xfrm>
              <a:off x="3536409" y="2114049"/>
              <a:ext cx="94869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D215E"/>
                  </a:solidFill>
                </a:rPr>
                <a:t>效果图</a:t>
              </a:r>
              <a:endParaRPr lang="zh-CN" altLang="en-US" sz="2000" b="1" dirty="0">
                <a:solidFill>
                  <a:srgbClr val="0D215E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7807" y="2023841"/>
              <a:ext cx="7296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0D215E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rPr>
                <a:t>02</a:t>
              </a:r>
              <a:endParaRPr lang="zh-CN" altLang="en-US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358265" y="9156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>
                <a:sym typeface="+mn-ea"/>
              </a:rPr>
              <a:t>一、</a:t>
            </a:r>
            <a:r>
              <a:rPr lang="en-US" altLang="zh-CN" sz="2400">
                <a:sym typeface="+mn-ea"/>
              </a:rPr>
              <a:t>SCADA</a:t>
            </a:r>
            <a:r>
              <a:rPr lang="zh-CN" altLang="en-US" sz="2400">
                <a:sym typeface="+mn-ea"/>
              </a:rPr>
              <a:t>系统</a:t>
            </a:r>
            <a:r>
              <a:rPr lang="en-US" altLang="zh-CN" sz="2400">
                <a:sym typeface="+mn-ea"/>
              </a:rPr>
              <a:t>(GeneralFrameSystem):</a:t>
            </a:r>
            <a:endParaRPr lang="en-US" altLang="zh-CN" sz="2400">
              <a:sym typeface="+mn-ea"/>
            </a:endParaRPr>
          </a:p>
        </p:txBody>
      </p:sp>
      <p:pic>
        <p:nvPicPr>
          <p:cNvPr id="6" name="图片 5" descr="屏幕截图 2025-02-26 112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55" y="1788795"/>
            <a:ext cx="5466080" cy="2903220"/>
          </a:xfrm>
          <a:prstGeom prst="rect">
            <a:avLst/>
          </a:prstGeom>
        </p:spPr>
      </p:pic>
      <p:pic>
        <p:nvPicPr>
          <p:cNvPr id="7" name="图片 6" descr="屏幕截图 2025-02-26 1117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445" y="1788795"/>
            <a:ext cx="5452745" cy="2893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832059" y="241926"/>
            <a:ext cx="1967292" cy="584775"/>
            <a:chOff x="2517807" y="2023841"/>
            <a:chExt cx="1967292" cy="584775"/>
          </a:xfrm>
        </p:grpSpPr>
        <p:sp>
          <p:nvSpPr>
            <p:cNvPr id="15" name="文本框 14"/>
            <p:cNvSpPr txBox="1"/>
            <p:nvPr/>
          </p:nvSpPr>
          <p:spPr>
            <a:xfrm>
              <a:off x="3536409" y="2114049"/>
              <a:ext cx="94869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D215E"/>
                  </a:solidFill>
                </a:rPr>
                <a:t>效果图</a:t>
              </a:r>
              <a:endParaRPr lang="zh-CN" altLang="en-US" sz="2000" b="1" dirty="0">
                <a:solidFill>
                  <a:srgbClr val="0D215E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7807" y="2023841"/>
              <a:ext cx="7296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0D215E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rPr>
                <a:t>02</a:t>
              </a:r>
              <a:endParaRPr lang="zh-CN" altLang="en-US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2" name="文本框 51"/>
          <p:cNvSpPr txBox="1"/>
          <p:nvPr>
            <p:custDataLst>
              <p:tags r:id="rId1"/>
            </p:custDataLst>
          </p:nvPr>
        </p:nvSpPr>
        <p:spPr>
          <a:xfrm>
            <a:off x="4832349" y="1094740"/>
            <a:ext cx="28905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HarmonyOS Sans SC Light" panose="00000400000000000000" pitchFamily="2" charset="-122"/>
              </a:rPr>
              <a:t>三、电子看板</a:t>
            </a:r>
            <a:r>
              <a:rPr lang="en-US" altLang="zh-CN" dirty="0">
                <a:sym typeface="HarmonyOS Sans SC Light" panose="00000400000000000000" pitchFamily="2" charset="-122"/>
              </a:rPr>
              <a:t>/</a:t>
            </a:r>
            <a:r>
              <a:rPr lang="zh-CN" altLang="en-US" dirty="0">
                <a:sym typeface="HarmonyOS Sans SC Light" panose="00000400000000000000" pitchFamily="2" charset="-122"/>
              </a:rPr>
              <a:t>数据大屏</a:t>
            </a:r>
            <a:r>
              <a:rPr lang="en-US" altLang="zh-CN" dirty="0">
                <a:sym typeface="HarmonyOS Sans SC Light" panose="00000400000000000000" pitchFamily="2" charset="-122"/>
              </a:rPr>
              <a:t>(GeneralBoardServer)</a:t>
            </a:r>
            <a:endParaRPr lang="en-US" altLang="zh-CN" dirty="0">
              <a:sym typeface="HarmonyOS Sans SC Light" panose="00000400000000000000" pitchFamily="2" charset="-122"/>
            </a:endParaRPr>
          </a:p>
        </p:txBody>
      </p:sp>
      <p:pic>
        <p:nvPicPr>
          <p:cNvPr id="2" name="图片 1" descr="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15" y="1852930"/>
            <a:ext cx="7686675" cy="4085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832059" y="241926"/>
            <a:ext cx="1967292" cy="584775"/>
            <a:chOff x="2517807" y="2023841"/>
            <a:chExt cx="1967292" cy="584775"/>
          </a:xfrm>
        </p:grpSpPr>
        <p:sp>
          <p:nvSpPr>
            <p:cNvPr id="15" name="文本框 14"/>
            <p:cNvSpPr txBox="1"/>
            <p:nvPr/>
          </p:nvSpPr>
          <p:spPr>
            <a:xfrm>
              <a:off x="3536409" y="2114049"/>
              <a:ext cx="94869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D215E"/>
                  </a:solidFill>
                </a:rPr>
                <a:t>效果图</a:t>
              </a:r>
              <a:endParaRPr lang="zh-CN" altLang="en-US" sz="2000" b="1" dirty="0">
                <a:solidFill>
                  <a:srgbClr val="0D215E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7807" y="2023841"/>
              <a:ext cx="7296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0D215E"/>
                  </a:solidFill>
                  <a:latin typeface="MiSans Heavy" panose="00000A00000000000000" pitchFamily="2" charset="-122"/>
                  <a:ea typeface="MiSans Heavy" panose="00000A00000000000000" pitchFamily="2" charset="-122"/>
                </a:rPr>
                <a:t>02</a:t>
              </a:r>
              <a:endParaRPr lang="zh-CN" altLang="en-US" sz="3200" dirty="0">
                <a:solidFill>
                  <a:srgbClr val="0D215E"/>
                </a:solidFill>
                <a:latin typeface="MiSans Heavy" panose="00000A00000000000000" pitchFamily="2" charset="-122"/>
                <a:ea typeface="MiSans Heavy" panose="00000A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269581" y="376614"/>
            <a:ext cx="3652837" cy="311150"/>
            <a:chOff x="4398848" y="376614"/>
            <a:chExt cx="3652837" cy="311150"/>
          </a:xfrm>
        </p:grpSpPr>
        <p:sp>
          <p:nvSpPr>
            <p:cNvPr id="18" name="菱形 17"/>
            <p:cNvSpPr/>
            <p:nvPr/>
          </p:nvSpPr>
          <p:spPr>
            <a:xfrm>
              <a:off x="4398848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7778001" y="376614"/>
              <a:ext cx="273684" cy="311150"/>
            </a:xfrm>
            <a:prstGeom prst="diamond">
              <a:avLst/>
            </a:pr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799590" y="1259205"/>
            <a:ext cx="30327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sym typeface="HarmonyOS Sans SC Light" panose="00000400000000000000" pitchFamily="2" charset="-122"/>
              </a:rPr>
              <a:t>二、电子看板服务器</a:t>
            </a:r>
            <a:endParaRPr lang="zh-CN" altLang="en-US" b="1" dirty="0">
              <a:sym typeface="HarmonyOS Sans SC Light" panose="00000400000000000000" pitchFamily="2" charset="-122"/>
            </a:endParaRPr>
          </a:p>
          <a:p>
            <a:pPr algn="ctr"/>
            <a:r>
              <a:rPr lang="en-US" altLang="zh-CN" b="1" dirty="0">
                <a:sym typeface="HarmonyOS Sans SC Light" panose="00000400000000000000" pitchFamily="2" charset="-122"/>
              </a:rPr>
              <a:t>(GeneralFrameBoard)</a:t>
            </a:r>
            <a:endParaRPr lang="en-US" altLang="zh-CN" b="1" dirty="0">
              <a:sym typeface="HarmonyOS Sans SC Light" panose="00000400000000000000" pitchFamily="2" charset="-122"/>
            </a:endParaRPr>
          </a:p>
        </p:txBody>
      </p:sp>
      <p:pic>
        <p:nvPicPr>
          <p:cNvPr id="4" name="图片 3" descr="BoardServ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5" y="2004060"/>
            <a:ext cx="4946015" cy="3006725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2"/>
            </p:custDataLst>
          </p:nvPr>
        </p:nvSpPr>
        <p:spPr>
          <a:xfrm>
            <a:off x="7922260" y="1320800"/>
            <a:ext cx="252544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en-US" altLang="zh-CN" dirty="0">
                <a:sym typeface="HarmonyOS Sans SC Light" panose="00000400000000000000" pitchFamily="2" charset="-122"/>
              </a:rPr>
              <a:t> </a:t>
            </a:r>
            <a:r>
              <a:rPr lang="zh-CN" altLang="en-US" dirty="0">
                <a:sym typeface="HarmonyOS Sans SC Light" panose="00000400000000000000" pitchFamily="2" charset="-122"/>
              </a:rPr>
              <a:t>四、</a:t>
            </a:r>
            <a:r>
              <a:rPr lang="en-US" altLang="zh-CN" dirty="0">
                <a:sym typeface="HarmonyOS Sans SC Light" panose="00000400000000000000" pitchFamily="2" charset="-122"/>
              </a:rPr>
              <a:t>MES</a:t>
            </a:r>
            <a:r>
              <a:rPr lang="zh-CN" altLang="en-US" dirty="0">
                <a:sym typeface="HarmonyOS Sans SC Light" panose="00000400000000000000" pitchFamily="2" charset="-122"/>
              </a:rPr>
              <a:t>系统</a:t>
            </a:r>
            <a:r>
              <a:rPr lang="en-US" altLang="zh-CN" dirty="0">
                <a:sym typeface="HarmonyOS Sans SC Light" panose="00000400000000000000" pitchFamily="2" charset="-122"/>
              </a:rPr>
              <a:t>(GeneralFrameMES)</a:t>
            </a:r>
            <a:endParaRPr lang="en-US" altLang="zh-CN" dirty="0">
              <a:sym typeface="HarmonyOS Sans SC Light" panose="00000400000000000000" pitchFamily="2" charset="-122"/>
            </a:endParaRPr>
          </a:p>
        </p:txBody>
      </p:sp>
      <p:pic>
        <p:nvPicPr>
          <p:cNvPr id="8" name="图片 7" descr="M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85" y="2004060"/>
            <a:ext cx="5656580" cy="3007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任意多边形: 形状 55"/>
          <p:cNvSpPr/>
          <p:nvPr/>
        </p:nvSpPr>
        <p:spPr>
          <a:xfrm rot="20700000">
            <a:off x="-951978" y="-594579"/>
            <a:ext cx="6872894" cy="2257786"/>
          </a:xfrm>
          <a:custGeom>
            <a:avLst/>
            <a:gdLst>
              <a:gd name="connsiteX0" fmla="*/ 2124478 w 6529289"/>
              <a:gd name="connsiteY0" fmla="*/ 0 h 2144909"/>
              <a:gd name="connsiteX1" fmla="*/ 6529289 w 6529289"/>
              <a:gd name="connsiteY1" fmla="*/ 1180265 h 2144909"/>
              <a:gd name="connsiteX2" fmla="*/ 6069007 w 6529289"/>
              <a:gd name="connsiteY2" fmla="*/ 1138172 h 2144909"/>
              <a:gd name="connsiteX3" fmla="*/ 5021326 w 6529289"/>
              <a:gd name="connsiteY3" fmla="*/ 1100319 h 2144909"/>
              <a:gd name="connsiteX4" fmla="*/ 156777 w 6529289"/>
              <a:gd name="connsiteY4" fmla="*/ 2062535 h 2144909"/>
              <a:gd name="connsiteX5" fmla="*/ 0 w 6529289"/>
              <a:gd name="connsiteY5" fmla="*/ 2144909 h 2144909"/>
              <a:gd name="connsiteX6" fmla="*/ 522631 w 6529289"/>
              <a:gd name="connsiteY6" fmla="*/ 194423 h 2144909"/>
              <a:gd name="connsiteX7" fmla="*/ 962056 w 6529289"/>
              <a:gd name="connsiteY7" fmla="*/ 117621 h 2144909"/>
              <a:gd name="connsiteX8" fmla="*/ 1621350 w 6529289"/>
              <a:gd name="connsiteY8" fmla="*/ 36668 h 214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9289" h="2144909">
                <a:moveTo>
                  <a:pt x="2124478" y="0"/>
                </a:moveTo>
                <a:lnTo>
                  <a:pt x="6529289" y="1180265"/>
                </a:lnTo>
                <a:lnTo>
                  <a:pt x="6069007" y="1138172"/>
                </a:lnTo>
                <a:cubicBezTo>
                  <a:pt x="5727400" y="1113247"/>
                  <a:pt x="5377524" y="1100319"/>
                  <a:pt x="5021326" y="1100319"/>
                </a:cubicBezTo>
                <a:cubicBezTo>
                  <a:pt x="3121602" y="1100319"/>
                  <a:pt x="1401724" y="1468029"/>
                  <a:pt x="156777" y="2062535"/>
                </a:cubicBezTo>
                <a:lnTo>
                  <a:pt x="0" y="2144909"/>
                </a:lnTo>
                <a:lnTo>
                  <a:pt x="522631" y="194423"/>
                </a:lnTo>
                <a:lnTo>
                  <a:pt x="962056" y="117621"/>
                </a:lnTo>
                <a:cubicBezTo>
                  <a:pt x="1177474" y="85625"/>
                  <a:pt x="1397431" y="58549"/>
                  <a:pt x="1621350" y="366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762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4" name="任意多边形: 形状 53"/>
          <p:cNvSpPr/>
          <p:nvPr/>
        </p:nvSpPr>
        <p:spPr>
          <a:xfrm rot="20476001">
            <a:off x="-245851" y="-566290"/>
            <a:ext cx="4037171" cy="1247634"/>
          </a:xfrm>
          <a:custGeom>
            <a:avLst/>
            <a:gdLst>
              <a:gd name="connsiteX0" fmla="*/ 358241 w 4037171"/>
              <a:gd name="connsiteY0" fmla="*/ 0 h 1247634"/>
              <a:gd name="connsiteX1" fmla="*/ 4037171 w 4037171"/>
              <a:gd name="connsiteY1" fmla="*/ 1247634 h 1247634"/>
              <a:gd name="connsiteX2" fmla="*/ 3944350 w 4037171"/>
              <a:gd name="connsiteY2" fmla="*/ 1224250 h 1247634"/>
              <a:gd name="connsiteX3" fmla="*/ 1493404 w 4037171"/>
              <a:gd name="connsiteY3" fmla="*/ 958034 h 1247634"/>
              <a:gd name="connsiteX4" fmla="*/ 354064 w 4037171"/>
              <a:gd name="connsiteY4" fmla="*/ 1012882 h 1247634"/>
              <a:gd name="connsiteX5" fmla="*/ 0 w 4037171"/>
              <a:gd name="connsiteY5" fmla="*/ 1056356 h 1247634"/>
              <a:gd name="connsiteX6" fmla="*/ 0 w 4037171"/>
              <a:gd name="connsiteY6" fmla="*/ 1056355 h 12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7171" h="1247634">
                <a:moveTo>
                  <a:pt x="358241" y="0"/>
                </a:moveTo>
                <a:lnTo>
                  <a:pt x="4037171" y="1247634"/>
                </a:lnTo>
                <a:lnTo>
                  <a:pt x="3944350" y="1224250"/>
                </a:lnTo>
                <a:cubicBezTo>
                  <a:pt x="3202902" y="1053642"/>
                  <a:pt x="2371534" y="958034"/>
                  <a:pt x="1493404" y="958034"/>
                </a:cubicBezTo>
                <a:cubicBezTo>
                  <a:pt x="1103124" y="958034"/>
                  <a:pt x="722081" y="976920"/>
                  <a:pt x="354064" y="1012882"/>
                </a:cubicBezTo>
                <a:lnTo>
                  <a:pt x="0" y="1056356"/>
                </a:lnTo>
                <a:lnTo>
                  <a:pt x="0" y="1056355"/>
                </a:lnTo>
                <a:close/>
              </a:path>
            </a:pathLst>
          </a:custGeom>
          <a:solidFill>
            <a:srgbClr val="0D215E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9" name="任意多边形: 形状 58"/>
          <p:cNvSpPr/>
          <p:nvPr/>
        </p:nvSpPr>
        <p:spPr>
          <a:xfrm rot="9900000">
            <a:off x="2861319" y="4107541"/>
            <a:ext cx="9925511" cy="3260587"/>
          </a:xfrm>
          <a:custGeom>
            <a:avLst/>
            <a:gdLst>
              <a:gd name="connsiteX0" fmla="*/ 2124478 w 6529289"/>
              <a:gd name="connsiteY0" fmla="*/ 0 h 2144909"/>
              <a:gd name="connsiteX1" fmla="*/ 6529289 w 6529289"/>
              <a:gd name="connsiteY1" fmla="*/ 1180265 h 2144909"/>
              <a:gd name="connsiteX2" fmla="*/ 6069007 w 6529289"/>
              <a:gd name="connsiteY2" fmla="*/ 1138172 h 2144909"/>
              <a:gd name="connsiteX3" fmla="*/ 5021326 w 6529289"/>
              <a:gd name="connsiteY3" fmla="*/ 1100319 h 2144909"/>
              <a:gd name="connsiteX4" fmla="*/ 156777 w 6529289"/>
              <a:gd name="connsiteY4" fmla="*/ 2062535 h 2144909"/>
              <a:gd name="connsiteX5" fmla="*/ 0 w 6529289"/>
              <a:gd name="connsiteY5" fmla="*/ 2144909 h 2144909"/>
              <a:gd name="connsiteX6" fmla="*/ 522631 w 6529289"/>
              <a:gd name="connsiteY6" fmla="*/ 194423 h 2144909"/>
              <a:gd name="connsiteX7" fmla="*/ 962056 w 6529289"/>
              <a:gd name="connsiteY7" fmla="*/ 117621 h 2144909"/>
              <a:gd name="connsiteX8" fmla="*/ 1621350 w 6529289"/>
              <a:gd name="connsiteY8" fmla="*/ 36668 h 214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9289" h="2144909">
                <a:moveTo>
                  <a:pt x="2124478" y="0"/>
                </a:moveTo>
                <a:lnTo>
                  <a:pt x="6529289" y="1180265"/>
                </a:lnTo>
                <a:lnTo>
                  <a:pt x="6069007" y="1138172"/>
                </a:lnTo>
                <a:cubicBezTo>
                  <a:pt x="5727400" y="1113247"/>
                  <a:pt x="5377524" y="1100319"/>
                  <a:pt x="5021326" y="1100319"/>
                </a:cubicBezTo>
                <a:cubicBezTo>
                  <a:pt x="3121602" y="1100319"/>
                  <a:pt x="1401724" y="1468029"/>
                  <a:pt x="156777" y="2062535"/>
                </a:cubicBezTo>
                <a:lnTo>
                  <a:pt x="0" y="2144909"/>
                </a:lnTo>
                <a:lnTo>
                  <a:pt x="522631" y="194423"/>
                </a:lnTo>
                <a:lnTo>
                  <a:pt x="962056" y="117621"/>
                </a:lnTo>
                <a:cubicBezTo>
                  <a:pt x="1177474" y="85625"/>
                  <a:pt x="1397431" y="58549"/>
                  <a:pt x="1621350" y="366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0" name="任意多边形: 形状 59"/>
          <p:cNvSpPr/>
          <p:nvPr/>
        </p:nvSpPr>
        <p:spPr>
          <a:xfrm rot="9676001">
            <a:off x="6432396" y="5828242"/>
            <a:ext cx="6137113" cy="1896593"/>
          </a:xfrm>
          <a:custGeom>
            <a:avLst/>
            <a:gdLst>
              <a:gd name="connsiteX0" fmla="*/ 358241 w 4037171"/>
              <a:gd name="connsiteY0" fmla="*/ 0 h 1247634"/>
              <a:gd name="connsiteX1" fmla="*/ 4037171 w 4037171"/>
              <a:gd name="connsiteY1" fmla="*/ 1247634 h 1247634"/>
              <a:gd name="connsiteX2" fmla="*/ 3944350 w 4037171"/>
              <a:gd name="connsiteY2" fmla="*/ 1224250 h 1247634"/>
              <a:gd name="connsiteX3" fmla="*/ 1493404 w 4037171"/>
              <a:gd name="connsiteY3" fmla="*/ 958034 h 1247634"/>
              <a:gd name="connsiteX4" fmla="*/ 354064 w 4037171"/>
              <a:gd name="connsiteY4" fmla="*/ 1012882 h 1247634"/>
              <a:gd name="connsiteX5" fmla="*/ 0 w 4037171"/>
              <a:gd name="connsiteY5" fmla="*/ 1056356 h 1247634"/>
              <a:gd name="connsiteX6" fmla="*/ 0 w 4037171"/>
              <a:gd name="connsiteY6" fmla="*/ 1056355 h 12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7171" h="1247634">
                <a:moveTo>
                  <a:pt x="358241" y="0"/>
                </a:moveTo>
                <a:lnTo>
                  <a:pt x="4037171" y="1247634"/>
                </a:lnTo>
                <a:lnTo>
                  <a:pt x="3944350" y="1224250"/>
                </a:lnTo>
                <a:cubicBezTo>
                  <a:pt x="3202902" y="1053642"/>
                  <a:pt x="2371534" y="958034"/>
                  <a:pt x="1493404" y="958034"/>
                </a:cubicBezTo>
                <a:cubicBezTo>
                  <a:pt x="1103124" y="958034"/>
                  <a:pt x="722081" y="976920"/>
                  <a:pt x="354064" y="1012882"/>
                </a:cubicBezTo>
                <a:lnTo>
                  <a:pt x="0" y="1056356"/>
                </a:lnTo>
                <a:lnTo>
                  <a:pt x="0" y="1056355"/>
                </a:lnTo>
                <a:close/>
              </a:path>
            </a:pathLst>
          </a:custGeom>
          <a:solidFill>
            <a:srgbClr val="0D215E"/>
          </a:solidFill>
          <a:ln>
            <a:noFill/>
          </a:ln>
          <a:effectLst>
            <a:outerShdw blurRad="63500" dist="76200" dir="135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251075" y="2661920"/>
            <a:ext cx="83534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solidFill>
                  <a:srgbClr val="0D215E"/>
                </a:solidFill>
                <a:uFillTx/>
                <a:latin typeface="Aa厚底黑" charset="0"/>
                <a:ea typeface="Aa厚底黑" panose="00020600040101010101" pitchFamily="18" charset="-122"/>
              </a:rPr>
              <a:t>Thanks For Watching</a:t>
            </a:r>
            <a:endParaRPr lang="en-US" altLang="zh-CN" sz="6000" dirty="0">
              <a:solidFill>
                <a:srgbClr val="0D215E"/>
              </a:solidFill>
              <a:uFillTx/>
              <a:latin typeface="Aa厚底黑" charset="0"/>
              <a:ea typeface="Aa厚底黑" panose="00020600040101010101" pitchFamily="18" charset="-122"/>
            </a:endParaRPr>
          </a:p>
        </p:txBody>
      </p:sp>
      <p:sp>
        <p:nvSpPr>
          <p:cNvPr id="72" name="菱形 71"/>
          <p:cNvSpPr/>
          <p:nvPr/>
        </p:nvSpPr>
        <p:spPr>
          <a:xfrm>
            <a:off x="452438" y="5786438"/>
            <a:ext cx="1426368" cy="1621632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3" name="菱形 72"/>
          <p:cNvSpPr/>
          <p:nvPr/>
        </p:nvSpPr>
        <p:spPr>
          <a:xfrm>
            <a:off x="10292777" y="-541870"/>
            <a:ext cx="1456312" cy="162139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6" name="菱形 75"/>
          <p:cNvSpPr/>
          <p:nvPr/>
        </p:nvSpPr>
        <p:spPr>
          <a:xfrm>
            <a:off x="264163" y="4998847"/>
            <a:ext cx="376550" cy="42809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菱形 76"/>
          <p:cNvSpPr/>
          <p:nvPr/>
        </p:nvSpPr>
        <p:spPr>
          <a:xfrm>
            <a:off x="1741964" y="4863192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8" name="菱形 77"/>
          <p:cNvSpPr/>
          <p:nvPr/>
        </p:nvSpPr>
        <p:spPr>
          <a:xfrm>
            <a:off x="880368" y="5174342"/>
            <a:ext cx="570508" cy="64860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菱形 78"/>
          <p:cNvSpPr/>
          <p:nvPr/>
        </p:nvSpPr>
        <p:spPr>
          <a:xfrm>
            <a:off x="2385" y="4351589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0" name="菱形 79"/>
          <p:cNvSpPr/>
          <p:nvPr/>
        </p:nvSpPr>
        <p:spPr>
          <a:xfrm>
            <a:off x="9763109" y="-55479"/>
            <a:ext cx="570508" cy="648608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1" name="菱形 80"/>
          <p:cNvSpPr/>
          <p:nvPr/>
        </p:nvSpPr>
        <p:spPr>
          <a:xfrm>
            <a:off x="9469995" y="884942"/>
            <a:ext cx="273684" cy="311150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2" name="菱形 81"/>
          <p:cNvSpPr/>
          <p:nvPr/>
        </p:nvSpPr>
        <p:spPr>
          <a:xfrm>
            <a:off x="11703910" y="1040517"/>
            <a:ext cx="1426368" cy="1621632"/>
          </a:xfrm>
          <a:prstGeom prst="diamond">
            <a:avLst/>
          </a:prstGeom>
          <a:solidFill>
            <a:srgbClr val="E3E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3939028" y="5427254"/>
            <a:ext cx="4313944" cy="313984"/>
            <a:chOff x="1253246" y="4118390"/>
            <a:chExt cx="4313944" cy="313984"/>
          </a:xfrm>
        </p:grpSpPr>
        <p:sp>
          <p:nvSpPr>
            <p:cNvPr id="84" name="文本框 83"/>
            <p:cNvSpPr txBox="1"/>
            <p:nvPr/>
          </p:nvSpPr>
          <p:spPr>
            <a:xfrm>
              <a:off x="1561022" y="4125669"/>
              <a:ext cx="202712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sym typeface="+mn-lt"/>
                </a:rPr>
                <a:t>编写人：陈俊希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8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3898985" y="4118390"/>
              <a:ext cx="166820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sym typeface="+mn-lt"/>
                </a:rPr>
                <a:t>2025.03.10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sym typeface="+mn-lt"/>
              </a:endParaRPr>
            </a:p>
          </p:txBody>
        </p:sp>
        <p:sp>
          <p:nvSpPr>
            <p:cNvPr id="8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0D21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2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3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4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5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6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7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8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9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0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1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2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3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4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5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6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7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8.xml><?xml version="1.0" encoding="utf-8"?>
<p:tagLst xmlns:p="http://schemas.openxmlformats.org/presentationml/2006/main">
  <p:tag name="KSO_WM_DIAGRAM_VIRTUALLY_FRAME" val="{&quot;height&quot;:391.31952755905513,&quot;left&quot;:13.684015748031493,&quot;top&quot;:94.52102362204724,&quot;width&quot;:919.6659842519684}"/>
</p:tagLst>
</file>

<file path=ppt/tags/tag19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0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1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2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3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4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5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6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7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8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29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0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1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2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3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4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5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6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7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8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39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40.xml><?xml version="1.0" encoding="utf-8"?>
<p:tagLst xmlns:p="http://schemas.openxmlformats.org/presentationml/2006/main">
  <p:tag name="KSO_WM_DIAGRAM_VIRTUALLY_FRAME" val="{&quot;height&quot;:352.14304263021074,&quot;left&quot;:96.25,&quot;top&quot;:105.00700787401574,&quot;width&quot;:801.8}"/>
</p:tagLst>
</file>

<file path=ppt/tags/tag41.xml><?xml version="1.0" encoding="utf-8"?>
<p:tagLst xmlns:p="http://schemas.openxmlformats.org/presentationml/2006/main">
  <p:tag name="KSO_WM_DIAGRAM_VIRTUALLY_FRAME" val="{&quot;height&quot;:342.29299212598426,&quot;left&quot;:96.25,&quot;top&quot;:105.00700787401574,&quot;width&quot;:801.8}"/>
</p:tagLst>
</file>

<file path=ppt/tags/tag42.xml><?xml version="1.0" encoding="utf-8"?>
<p:tagLst xmlns:p="http://schemas.openxmlformats.org/presentationml/2006/main">
  <p:tag name="KSO_WM_DIAGRAM_VIRTUALLY_FRAME" val="{&quot;height&quot;:342.29299212598426,&quot;left&quot;:96.25,&quot;top&quot;:105.00700787401574,&quot;width&quot;:801.8}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3u4bivd">
      <a:majorFont>
        <a:latin typeface="HarmonyOS Sans SC Light"/>
        <a:ea typeface="阿里巴巴普惠体 2.0 55 Regular"/>
        <a:cs typeface=""/>
      </a:majorFont>
      <a:minorFont>
        <a:latin typeface="HarmonyOS Sans SC Light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D215E"/>
        </a:solidFill>
      </a:spPr>
      <a:bodyPr rtlCol="0" anchor="ctr"/>
      <a:lstStyle>
        <a:defPPr algn="ctr">
          <a:defRPr>
            <a:cs typeface="+mn-ea"/>
            <a:sym typeface="+mn-lt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WPS 演示</Application>
  <PresentationFormat>宽屏</PresentationFormat>
  <Paragraphs>100</Paragraphs>
  <Slides>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HarmonyOS Sans SC Light</vt:lpstr>
      <vt:lpstr>阿里巴巴普惠体 2.0 55 Regular</vt:lpstr>
      <vt:lpstr>Aa厚底黑</vt:lpstr>
      <vt:lpstr>黑体</vt:lpstr>
      <vt:lpstr>MiSans Heavy</vt:lpstr>
      <vt:lpstr>Calibri</vt:lpstr>
      <vt:lpstr>Aa厚底黑</vt:lpstr>
      <vt:lpstr>微软雅黑</vt:lpstr>
      <vt:lpstr>Arial Unicode MS</vt:lpstr>
      <vt:lpstr>等线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简约几何风月度工作复盘PPT模板</dc:title>
  <dc:creator>©51PPT模板网（www.51pptmoban.com）</dc:creator>
  <cp:keywords>版权归属：51PPT模板网</cp:keywords>
  <dc:description>51PPT模板网，幻灯片演示模板及素材免费下载！
51PPT模板网 唯一访问网址：www.51pptmoban.com</dc:description>
  <cp:lastModifiedBy>Once</cp:lastModifiedBy>
  <cp:revision>61</cp:revision>
  <dcterms:created xsi:type="dcterms:W3CDTF">2024-07-16T03:51:00Z</dcterms:created>
  <dcterms:modified xsi:type="dcterms:W3CDTF">2025-10-11T00:24:34Z</dcterms:modified>
  <cp:version>51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B509CAAB7AFB4900A9101E8BD0AF9301_12</vt:lpwstr>
  </property>
  <property fmtid="{D5CDD505-2E9C-101B-9397-08002B2CF9AE}" pid="3" name="KSOProductBuildVer">
    <vt:lpwstr>2052-12.1.0.22529</vt:lpwstr>
  </property>
</Properties>
</file>